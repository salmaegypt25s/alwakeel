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Poppins Bold" charset="1" panose="00000800000000000000"/>
      <p:regular r:id="rId30"/>
    </p:embeddedFont>
    <p:embeddedFont>
      <p:font typeface="Nunito Ultra-Bold" charset="1" panose="00000000000000000000"/>
      <p:regular r:id="rId31"/>
    </p:embeddedFont>
    <p:embeddedFont>
      <p:font typeface="Cairo Bold" charset="1" panose="00000800000000000000"/>
      <p:regular r:id="rId32"/>
    </p:embeddedFont>
    <p:embeddedFont>
      <p:font typeface="Anton" charset="1" panose="00000500000000000000"/>
      <p:regular r:id="rId33"/>
    </p:embeddedFont>
    <p:embeddedFont>
      <p:font typeface="Cairo" charset="1" panose="00000500000000000000"/>
      <p:regular r:id="rId34"/>
    </p:embeddedFont>
    <p:embeddedFont>
      <p:font typeface="Montserrat Bold" charset="1" panose="000008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jpeg" Type="http://schemas.openxmlformats.org/officeDocument/2006/relationships/image"/><Relationship Id="rId4" Target="../media/image12.png" Type="http://schemas.openxmlformats.org/officeDocument/2006/relationships/image"/><Relationship Id="rId5" Target="../media/image33.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png" Type="http://schemas.openxmlformats.org/officeDocument/2006/relationships/image"/><Relationship Id="rId4" Target="../media/image12.png" Type="http://schemas.openxmlformats.org/officeDocument/2006/relationships/image"/><Relationship Id="rId5" Target="../media/image33.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12.png" Type="http://schemas.openxmlformats.org/officeDocument/2006/relationships/image"/><Relationship Id="rId5" Target="../media/image33.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13.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13.png" Type="http://schemas.openxmlformats.org/officeDocument/2006/relationships/image"/><Relationship Id="rId7" Target="../media/image47.png" Type="http://schemas.openxmlformats.org/officeDocument/2006/relationships/image"/><Relationship Id="rId8" Target="../media/image5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33.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52.jpeg" Type="http://schemas.openxmlformats.org/officeDocument/2006/relationships/image"/><Relationship Id="rId7" Target="../media/image53.jpeg" Type="http://schemas.openxmlformats.org/officeDocument/2006/relationships/image"/><Relationship Id="rId8" Target="../media/image54.jpeg" Type="http://schemas.openxmlformats.org/officeDocument/2006/relationships/image"/><Relationship Id="rId9" Target="../media/image5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784" r="0" b="-15687"/>
            </a:stretch>
          </a:blipFill>
        </p:spPr>
      </p:sp>
      <p:sp>
        <p:nvSpPr>
          <p:cNvPr name="Freeform 3" id="3"/>
          <p:cNvSpPr/>
          <p:nvPr/>
        </p:nvSpPr>
        <p:spPr>
          <a:xfrm flipH="false" flipV="false" rot="0">
            <a:off x="7688436" y="265813"/>
            <a:ext cx="2911128" cy="2898190"/>
          </a:xfrm>
          <a:custGeom>
            <a:avLst/>
            <a:gdLst/>
            <a:ahLst/>
            <a:cxnLst/>
            <a:rect r="r" b="b" t="t" l="l"/>
            <a:pathLst>
              <a:path h="2898190" w="2911128">
                <a:moveTo>
                  <a:pt x="0" y="0"/>
                </a:moveTo>
                <a:lnTo>
                  <a:pt x="2911128" y="0"/>
                </a:lnTo>
                <a:lnTo>
                  <a:pt x="2911128" y="2898190"/>
                </a:lnTo>
                <a:lnTo>
                  <a:pt x="0" y="289819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13249" y="6571920"/>
            <a:ext cx="3775145" cy="4925570"/>
          </a:xfrm>
          <a:custGeom>
            <a:avLst/>
            <a:gdLst/>
            <a:ahLst/>
            <a:cxnLst/>
            <a:rect r="r" b="b" t="t" l="l"/>
            <a:pathLst>
              <a:path h="4925570" w="3775145">
                <a:moveTo>
                  <a:pt x="0" y="0"/>
                </a:moveTo>
                <a:lnTo>
                  <a:pt x="3775145" y="0"/>
                </a:lnTo>
                <a:lnTo>
                  <a:pt x="3775145" y="4925570"/>
                </a:lnTo>
                <a:lnTo>
                  <a:pt x="0" y="4925570"/>
                </a:lnTo>
                <a:lnTo>
                  <a:pt x="0" y="0"/>
                </a:lnTo>
                <a:close/>
              </a:path>
            </a:pathLst>
          </a:custGeom>
          <a:blipFill>
            <a:blip r:embed="rId2"/>
            <a:stretch>
              <a:fillRect l="-12556" t="0" r="-17916" b="0"/>
            </a:stretch>
          </a:blipFill>
        </p:spPr>
      </p:sp>
      <p:sp>
        <p:nvSpPr>
          <p:cNvPr name="Freeform 3" id="3"/>
          <p:cNvSpPr/>
          <p:nvPr/>
        </p:nvSpPr>
        <p:spPr>
          <a:xfrm flipH="false" flipV="false" rot="0">
            <a:off x="0" y="6354412"/>
            <a:ext cx="3137656" cy="4982669"/>
          </a:xfrm>
          <a:custGeom>
            <a:avLst/>
            <a:gdLst/>
            <a:ahLst/>
            <a:cxnLst/>
            <a:rect r="r" b="b" t="t" l="l"/>
            <a:pathLst>
              <a:path h="4982669" w="3137656">
                <a:moveTo>
                  <a:pt x="0" y="0"/>
                </a:moveTo>
                <a:lnTo>
                  <a:pt x="3137656" y="0"/>
                </a:lnTo>
                <a:lnTo>
                  <a:pt x="3137656" y="4982669"/>
                </a:lnTo>
                <a:lnTo>
                  <a:pt x="0" y="4982669"/>
                </a:lnTo>
                <a:lnTo>
                  <a:pt x="0" y="0"/>
                </a:lnTo>
                <a:close/>
              </a:path>
            </a:pathLst>
          </a:custGeom>
          <a:blipFill>
            <a:blip r:embed="rId3"/>
            <a:stretch>
              <a:fillRect l="-25490" t="0" r="-33311" b="0"/>
            </a:stretch>
          </a:blipFill>
        </p:spPr>
      </p:sp>
      <p:sp>
        <p:nvSpPr>
          <p:cNvPr name="Freeform 4" id="4"/>
          <p:cNvSpPr/>
          <p:nvPr/>
        </p:nvSpPr>
        <p:spPr>
          <a:xfrm flipH="false" flipV="false" rot="0">
            <a:off x="1971675" y="7133347"/>
            <a:ext cx="2929147" cy="3936606"/>
          </a:xfrm>
          <a:custGeom>
            <a:avLst/>
            <a:gdLst/>
            <a:ahLst/>
            <a:cxnLst/>
            <a:rect r="r" b="b" t="t" l="l"/>
            <a:pathLst>
              <a:path h="3936606" w="2929147">
                <a:moveTo>
                  <a:pt x="0" y="0"/>
                </a:moveTo>
                <a:lnTo>
                  <a:pt x="2929147" y="0"/>
                </a:lnTo>
                <a:lnTo>
                  <a:pt x="2929147" y="3936606"/>
                </a:lnTo>
                <a:lnTo>
                  <a:pt x="0" y="3936606"/>
                </a:lnTo>
                <a:lnTo>
                  <a:pt x="0" y="0"/>
                </a:lnTo>
                <a:close/>
              </a:path>
            </a:pathLst>
          </a:custGeom>
          <a:blipFill>
            <a:blip r:embed="rId4"/>
            <a:stretch>
              <a:fillRect l="-22652" t="0" r="-11741" b="0"/>
            </a:stretch>
          </a:blipFill>
        </p:spPr>
      </p:sp>
      <p:sp>
        <p:nvSpPr>
          <p:cNvPr name="Freeform 5" id="5"/>
          <p:cNvSpPr/>
          <p:nvPr/>
        </p:nvSpPr>
        <p:spPr>
          <a:xfrm flipH="false" flipV="false" rot="0">
            <a:off x="16478199" y="6462024"/>
            <a:ext cx="1322035" cy="4875057"/>
          </a:xfrm>
          <a:custGeom>
            <a:avLst/>
            <a:gdLst/>
            <a:ahLst/>
            <a:cxnLst/>
            <a:rect r="r" b="b" t="t" l="l"/>
            <a:pathLst>
              <a:path h="4875057" w="1322035">
                <a:moveTo>
                  <a:pt x="0" y="0"/>
                </a:moveTo>
                <a:lnTo>
                  <a:pt x="1322035" y="0"/>
                </a:lnTo>
                <a:lnTo>
                  <a:pt x="1322035" y="4875057"/>
                </a:lnTo>
                <a:lnTo>
                  <a:pt x="0" y="4875057"/>
                </a:lnTo>
                <a:lnTo>
                  <a:pt x="0" y="0"/>
                </a:lnTo>
                <a:close/>
              </a:path>
            </a:pathLst>
          </a:custGeom>
          <a:blipFill>
            <a:blip r:embed="rId5"/>
            <a:stretch>
              <a:fillRect l="-133047" t="0" r="-135706" b="0"/>
            </a:stretch>
          </a:blipFill>
        </p:spPr>
      </p:sp>
      <p:sp>
        <p:nvSpPr>
          <p:cNvPr name="Freeform 6" id="6"/>
          <p:cNvSpPr/>
          <p:nvPr/>
        </p:nvSpPr>
        <p:spPr>
          <a:xfrm flipH="false" flipV="false" rot="0">
            <a:off x="14156134" y="7117078"/>
            <a:ext cx="2083939" cy="3969143"/>
          </a:xfrm>
          <a:custGeom>
            <a:avLst/>
            <a:gdLst/>
            <a:ahLst/>
            <a:cxnLst/>
            <a:rect r="r" b="b" t="t" l="l"/>
            <a:pathLst>
              <a:path h="3969143" w="2083939">
                <a:moveTo>
                  <a:pt x="0" y="0"/>
                </a:moveTo>
                <a:lnTo>
                  <a:pt x="2083940" y="0"/>
                </a:lnTo>
                <a:lnTo>
                  <a:pt x="2083940" y="3969144"/>
                </a:lnTo>
                <a:lnTo>
                  <a:pt x="0" y="3969144"/>
                </a:lnTo>
                <a:lnTo>
                  <a:pt x="0" y="0"/>
                </a:lnTo>
                <a:close/>
              </a:path>
            </a:pathLst>
          </a:custGeom>
          <a:blipFill>
            <a:blip r:embed="rId6"/>
            <a:stretch>
              <a:fillRect l="-9404" t="0" r="-81058" b="0"/>
            </a:stretch>
          </a:blipFill>
        </p:spPr>
      </p:sp>
      <p:sp>
        <p:nvSpPr>
          <p:cNvPr name="Freeform 7" id="7"/>
          <p:cNvSpPr/>
          <p:nvPr/>
        </p:nvSpPr>
        <p:spPr>
          <a:xfrm flipH="false" flipV="false" rot="0">
            <a:off x="11388685" y="6447059"/>
            <a:ext cx="3828099" cy="5309181"/>
          </a:xfrm>
          <a:custGeom>
            <a:avLst/>
            <a:gdLst/>
            <a:ahLst/>
            <a:cxnLst/>
            <a:rect r="r" b="b" t="t" l="l"/>
            <a:pathLst>
              <a:path h="5309181" w="3828099">
                <a:moveTo>
                  <a:pt x="0" y="0"/>
                </a:moveTo>
                <a:lnTo>
                  <a:pt x="3828099" y="0"/>
                </a:lnTo>
                <a:lnTo>
                  <a:pt x="3828099" y="5309182"/>
                </a:lnTo>
                <a:lnTo>
                  <a:pt x="0" y="5309182"/>
                </a:lnTo>
                <a:lnTo>
                  <a:pt x="0" y="0"/>
                </a:lnTo>
                <a:close/>
              </a:path>
            </a:pathLst>
          </a:custGeom>
          <a:blipFill>
            <a:blip r:embed="rId7"/>
            <a:stretch>
              <a:fillRect l="-38689" t="0" r="0" b="0"/>
            </a:stretch>
          </a:blipFill>
        </p:spPr>
      </p:sp>
      <p:sp>
        <p:nvSpPr>
          <p:cNvPr name="Freeform 8" id="8"/>
          <p:cNvSpPr/>
          <p:nvPr/>
        </p:nvSpPr>
        <p:spPr>
          <a:xfrm flipH="false" flipV="false" rot="0">
            <a:off x="13302734" y="6632842"/>
            <a:ext cx="2406898" cy="5002176"/>
          </a:xfrm>
          <a:custGeom>
            <a:avLst/>
            <a:gdLst/>
            <a:ahLst/>
            <a:cxnLst/>
            <a:rect r="r" b="b" t="t" l="l"/>
            <a:pathLst>
              <a:path h="5002176" w="2406898">
                <a:moveTo>
                  <a:pt x="0" y="0"/>
                </a:moveTo>
                <a:lnTo>
                  <a:pt x="2406898" y="0"/>
                </a:lnTo>
                <a:lnTo>
                  <a:pt x="2406898" y="5002176"/>
                </a:lnTo>
                <a:lnTo>
                  <a:pt x="0" y="5002176"/>
                </a:lnTo>
                <a:lnTo>
                  <a:pt x="0" y="0"/>
                </a:lnTo>
                <a:close/>
              </a:path>
            </a:pathLst>
          </a:custGeom>
          <a:blipFill>
            <a:blip r:embed="rId8"/>
            <a:stretch>
              <a:fillRect l="-53192" t="0" r="-54634" b="0"/>
            </a:stretch>
          </a:blipFill>
        </p:spPr>
      </p:sp>
      <p:sp>
        <p:nvSpPr>
          <p:cNvPr name="Freeform 9" id="9"/>
          <p:cNvSpPr/>
          <p:nvPr/>
        </p:nvSpPr>
        <p:spPr>
          <a:xfrm flipH="false" flipV="false" rot="0">
            <a:off x="16006436" y="7085941"/>
            <a:ext cx="1231080" cy="4081409"/>
          </a:xfrm>
          <a:custGeom>
            <a:avLst/>
            <a:gdLst/>
            <a:ahLst/>
            <a:cxnLst/>
            <a:rect r="r" b="b" t="t" l="l"/>
            <a:pathLst>
              <a:path h="4081409" w="1231080">
                <a:moveTo>
                  <a:pt x="0" y="0"/>
                </a:moveTo>
                <a:lnTo>
                  <a:pt x="1231080" y="0"/>
                </a:lnTo>
                <a:lnTo>
                  <a:pt x="1231080" y="4081409"/>
                </a:lnTo>
                <a:lnTo>
                  <a:pt x="0" y="4081409"/>
                </a:lnTo>
                <a:lnTo>
                  <a:pt x="0" y="0"/>
                </a:lnTo>
                <a:close/>
              </a:path>
            </a:pathLst>
          </a:custGeom>
          <a:blipFill>
            <a:blip r:embed="rId9"/>
            <a:stretch>
              <a:fillRect l="-123230" t="0" r="-108300" b="0"/>
            </a:stretch>
          </a:blipFill>
        </p:spPr>
      </p:sp>
      <p:sp>
        <p:nvSpPr>
          <p:cNvPr name="Freeform 10" id="10"/>
          <p:cNvSpPr/>
          <p:nvPr/>
        </p:nvSpPr>
        <p:spPr>
          <a:xfrm flipH="false" flipV="false" rot="0">
            <a:off x="0" y="0"/>
            <a:ext cx="1971675" cy="2143125"/>
          </a:xfrm>
          <a:custGeom>
            <a:avLst/>
            <a:gdLst/>
            <a:ahLst/>
            <a:cxnLst/>
            <a:rect r="r" b="b" t="t" l="l"/>
            <a:pathLst>
              <a:path h="2143125" w="1971675">
                <a:moveTo>
                  <a:pt x="0" y="0"/>
                </a:moveTo>
                <a:lnTo>
                  <a:pt x="1971675" y="0"/>
                </a:lnTo>
                <a:lnTo>
                  <a:pt x="1971675" y="2143125"/>
                </a:lnTo>
                <a:lnTo>
                  <a:pt x="0" y="2143125"/>
                </a:lnTo>
                <a:lnTo>
                  <a:pt x="0" y="0"/>
                </a:lnTo>
                <a:close/>
              </a:path>
            </a:pathLst>
          </a:custGeom>
          <a:blipFill>
            <a:blip r:embed="rId10"/>
            <a:stretch>
              <a:fillRect l="0" t="0" r="0" b="0"/>
            </a:stretch>
          </a:blipFill>
        </p:spPr>
      </p:sp>
      <p:sp>
        <p:nvSpPr>
          <p:cNvPr name="Freeform 11" id="11"/>
          <p:cNvSpPr/>
          <p:nvPr/>
        </p:nvSpPr>
        <p:spPr>
          <a:xfrm flipH="false" flipV="false" rot="0">
            <a:off x="15444788" y="2357438"/>
            <a:ext cx="2843212" cy="6000750"/>
          </a:xfrm>
          <a:custGeom>
            <a:avLst/>
            <a:gdLst/>
            <a:ahLst/>
            <a:cxnLst/>
            <a:rect r="r" b="b" t="t" l="l"/>
            <a:pathLst>
              <a:path h="6000750" w="2843212">
                <a:moveTo>
                  <a:pt x="0" y="0"/>
                </a:moveTo>
                <a:lnTo>
                  <a:pt x="2843212" y="0"/>
                </a:lnTo>
                <a:lnTo>
                  <a:pt x="2843212" y="6000750"/>
                </a:lnTo>
                <a:lnTo>
                  <a:pt x="0" y="6000750"/>
                </a:lnTo>
                <a:lnTo>
                  <a:pt x="0" y="0"/>
                </a:lnTo>
                <a:close/>
              </a:path>
            </a:pathLst>
          </a:custGeom>
          <a:blipFill>
            <a:blip r:embed="rId11"/>
            <a:stretch>
              <a:fillRect l="0" t="0" r="0" b="0"/>
            </a:stretch>
          </a:blipFill>
        </p:spPr>
      </p:sp>
      <p:sp>
        <p:nvSpPr>
          <p:cNvPr name="Freeform 12" id="12"/>
          <p:cNvSpPr/>
          <p:nvPr/>
        </p:nvSpPr>
        <p:spPr>
          <a:xfrm flipH="false" flipV="false" rot="0">
            <a:off x="0" y="2357438"/>
            <a:ext cx="1971675" cy="5786438"/>
          </a:xfrm>
          <a:custGeom>
            <a:avLst/>
            <a:gdLst/>
            <a:ahLst/>
            <a:cxnLst/>
            <a:rect r="r" b="b" t="t" l="l"/>
            <a:pathLst>
              <a:path h="5786438" w="1971675">
                <a:moveTo>
                  <a:pt x="0" y="0"/>
                </a:moveTo>
                <a:lnTo>
                  <a:pt x="1971675" y="0"/>
                </a:lnTo>
                <a:lnTo>
                  <a:pt x="1971675" y="5786437"/>
                </a:lnTo>
                <a:lnTo>
                  <a:pt x="0" y="5786437"/>
                </a:lnTo>
                <a:lnTo>
                  <a:pt x="0" y="0"/>
                </a:lnTo>
                <a:close/>
              </a:path>
            </a:pathLst>
          </a:custGeom>
          <a:blipFill>
            <a:blip r:embed="rId12"/>
            <a:stretch>
              <a:fillRect l="0" t="0" r="0" b="0"/>
            </a:stretch>
          </a:blipFill>
        </p:spPr>
      </p:sp>
      <p:sp>
        <p:nvSpPr>
          <p:cNvPr name="Freeform 13" id="13"/>
          <p:cNvSpPr/>
          <p:nvPr/>
        </p:nvSpPr>
        <p:spPr>
          <a:xfrm flipH="false" flipV="false" rot="0">
            <a:off x="8103566" y="7011485"/>
            <a:ext cx="4642948" cy="4642948"/>
          </a:xfrm>
          <a:custGeom>
            <a:avLst/>
            <a:gdLst/>
            <a:ahLst/>
            <a:cxnLst/>
            <a:rect r="r" b="b" t="t" l="l"/>
            <a:pathLst>
              <a:path h="4642948" w="4642948">
                <a:moveTo>
                  <a:pt x="0" y="0"/>
                </a:moveTo>
                <a:lnTo>
                  <a:pt x="4642948" y="0"/>
                </a:lnTo>
                <a:lnTo>
                  <a:pt x="4642948" y="4642948"/>
                </a:lnTo>
                <a:lnTo>
                  <a:pt x="0" y="4642948"/>
                </a:lnTo>
                <a:lnTo>
                  <a:pt x="0" y="0"/>
                </a:lnTo>
                <a:close/>
              </a:path>
            </a:pathLst>
          </a:custGeom>
          <a:blipFill>
            <a:blip r:embed="rId13"/>
            <a:stretch>
              <a:fillRect l="0" t="0" r="0" b="0"/>
            </a:stretch>
          </a:blipFill>
        </p:spPr>
      </p:sp>
      <p:sp>
        <p:nvSpPr>
          <p:cNvPr name="Freeform 14" id="14"/>
          <p:cNvSpPr/>
          <p:nvPr/>
        </p:nvSpPr>
        <p:spPr>
          <a:xfrm flipH="false" flipV="false" rot="0">
            <a:off x="4976265" y="6931175"/>
            <a:ext cx="4556903" cy="4556903"/>
          </a:xfrm>
          <a:custGeom>
            <a:avLst/>
            <a:gdLst/>
            <a:ahLst/>
            <a:cxnLst/>
            <a:rect r="r" b="b" t="t" l="l"/>
            <a:pathLst>
              <a:path h="4556903" w="4556903">
                <a:moveTo>
                  <a:pt x="0" y="0"/>
                </a:moveTo>
                <a:lnTo>
                  <a:pt x="4556903" y="0"/>
                </a:lnTo>
                <a:lnTo>
                  <a:pt x="4556903" y="4556903"/>
                </a:lnTo>
                <a:lnTo>
                  <a:pt x="0" y="4556903"/>
                </a:lnTo>
                <a:lnTo>
                  <a:pt x="0" y="0"/>
                </a:lnTo>
                <a:close/>
              </a:path>
            </a:pathLst>
          </a:custGeom>
          <a:blipFill>
            <a:blip r:embed="rId14"/>
            <a:stretch>
              <a:fillRect l="0" t="0" r="0" b="0"/>
            </a:stretch>
          </a:blipFill>
        </p:spPr>
      </p:sp>
      <p:sp>
        <p:nvSpPr>
          <p:cNvPr name="Freeform 15" id="15"/>
          <p:cNvSpPr/>
          <p:nvPr/>
        </p:nvSpPr>
        <p:spPr>
          <a:xfrm flipH="false" flipV="false" rot="0">
            <a:off x="7022630" y="7409790"/>
            <a:ext cx="3881934" cy="3881934"/>
          </a:xfrm>
          <a:custGeom>
            <a:avLst/>
            <a:gdLst/>
            <a:ahLst/>
            <a:cxnLst/>
            <a:rect r="r" b="b" t="t" l="l"/>
            <a:pathLst>
              <a:path h="3881934" w="3881934">
                <a:moveTo>
                  <a:pt x="0" y="0"/>
                </a:moveTo>
                <a:lnTo>
                  <a:pt x="3881934" y="0"/>
                </a:lnTo>
                <a:lnTo>
                  <a:pt x="3881934" y="3881933"/>
                </a:lnTo>
                <a:lnTo>
                  <a:pt x="0" y="3881933"/>
                </a:lnTo>
                <a:lnTo>
                  <a:pt x="0" y="0"/>
                </a:lnTo>
                <a:close/>
              </a:path>
            </a:pathLst>
          </a:custGeom>
          <a:blipFill>
            <a:blip r:embed="rId15"/>
            <a:stretch>
              <a:fillRect l="0" t="0" r="0" b="0"/>
            </a:stretch>
          </a:blipFill>
        </p:spPr>
      </p:sp>
      <p:sp>
        <p:nvSpPr>
          <p:cNvPr name="TextBox 16" id="16"/>
          <p:cNvSpPr txBox="true"/>
          <p:nvPr/>
        </p:nvSpPr>
        <p:spPr>
          <a:xfrm rot="0">
            <a:off x="6588670" y="2157413"/>
            <a:ext cx="4239122" cy="1279681"/>
          </a:xfrm>
          <a:prstGeom prst="rect">
            <a:avLst/>
          </a:prstGeom>
        </p:spPr>
        <p:txBody>
          <a:bodyPr anchor="t" rtlCol="false" tIns="0" lIns="0" bIns="0" rIns="0">
            <a:spAutoFit/>
          </a:bodyPr>
          <a:lstStyle/>
          <a:p>
            <a:pPr algn="l">
              <a:lnSpc>
                <a:spcPts val="10037"/>
              </a:lnSpc>
            </a:pPr>
            <a:r>
              <a:rPr lang="en-US" sz="7169" b="true">
                <a:solidFill>
                  <a:srgbClr val="000066"/>
                </a:solidFill>
                <a:latin typeface="Poppins Bold"/>
                <a:ea typeface="Poppins Bold"/>
                <a:cs typeface="Poppins Bold"/>
                <a:sym typeface="Poppins Bold"/>
              </a:rPr>
              <a:t>Products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9" t="-15068" r="-2332" b="-6451"/>
            </a:stretch>
          </a:blipFill>
        </p:spPr>
      </p:sp>
      <p:sp>
        <p:nvSpPr>
          <p:cNvPr name="Freeform 3" id="3"/>
          <p:cNvSpPr/>
          <p:nvPr/>
        </p:nvSpPr>
        <p:spPr>
          <a:xfrm flipH="false" flipV="false" rot="0">
            <a:off x="0" y="0"/>
            <a:ext cx="1378406" cy="2030688"/>
          </a:xfrm>
          <a:custGeom>
            <a:avLst/>
            <a:gdLst/>
            <a:ahLst/>
            <a:cxnLst/>
            <a:rect r="r" b="b" t="t" l="l"/>
            <a:pathLst>
              <a:path h="2030688" w="1378406">
                <a:moveTo>
                  <a:pt x="0" y="0"/>
                </a:moveTo>
                <a:lnTo>
                  <a:pt x="1378406" y="0"/>
                </a:lnTo>
                <a:lnTo>
                  <a:pt x="1378406" y="2030688"/>
                </a:lnTo>
                <a:lnTo>
                  <a:pt x="0" y="2030688"/>
                </a:lnTo>
                <a:lnTo>
                  <a:pt x="0" y="0"/>
                </a:lnTo>
                <a:close/>
              </a:path>
            </a:pathLst>
          </a:custGeom>
          <a:blipFill>
            <a:blip r:embed="rId3"/>
            <a:stretch>
              <a:fillRect l="0" t="0" r="0" b="0"/>
            </a:stretch>
          </a:blipFill>
        </p:spPr>
      </p:sp>
      <p:sp>
        <p:nvSpPr>
          <p:cNvPr name="Freeform 4" id="4"/>
          <p:cNvSpPr/>
          <p:nvPr/>
        </p:nvSpPr>
        <p:spPr>
          <a:xfrm flipH="false" flipV="false" rot="0">
            <a:off x="5526420" y="-555650"/>
            <a:ext cx="12846704" cy="1306379"/>
          </a:xfrm>
          <a:custGeom>
            <a:avLst/>
            <a:gdLst/>
            <a:ahLst/>
            <a:cxnLst/>
            <a:rect r="r" b="b" t="t" l="l"/>
            <a:pathLst>
              <a:path h="1306379" w="12846704">
                <a:moveTo>
                  <a:pt x="0" y="0"/>
                </a:moveTo>
                <a:lnTo>
                  <a:pt x="12846704" y="0"/>
                </a:lnTo>
                <a:lnTo>
                  <a:pt x="12846704" y="1306379"/>
                </a:lnTo>
                <a:lnTo>
                  <a:pt x="0" y="1306379"/>
                </a:lnTo>
                <a:lnTo>
                  <a:pt x="0" y="0"/>
                </a:lnTo>
                <a:close/>
              </a:path>
            </a:pathLst>
          </a:custGeom>
          <a:blipFill>
            <a:blip r:embed="rId4"/>
            <a:stretch>
              <a:fillRect l="0" t="-85882" r="0" b="-246805"/>
            </a:stretch>
          </a:blipFill>
        </p:spPr>
      </p:sp>
      <p:sp>
        <p:nvSpPr>
          <p:cNvPr name="TextBox 5" id="5"/>
          <p:cNvSpPr txBox="true"/>
          <p:nvPr/>
        </p:nvSpPr>
        <p:spPr>
          <a:xfrm rot="0">
            <a:off x="1378406" y="-171450"/>
            <a:ext cx="5298762" cy="1093611"/>
          </a:xfrm>
          <a:prstGeom prst="rect">
            <a:avLst/>
          </a:prstGeom>
        </p:spPr>
        <p:txBody>
          <a:bodyPr anchor="t" rtlCol="false" tIns="0" lIns="0" bIns="0" rIns="0">
            <a:spAutoFit/>
          </a:bodyPr>
          <a:lstStyle/>
          <a:p>
            <a:pPr algn="ctr">
              <a:lnSpc>
                <a:spcPts val="8497"/>
              </a:lnSpc>
              <a:spcBef>
                <a:spcPct val="0"/>
              </a:spcBef>
            </a:pPr>
            <a:r>
              <a:rPr lang="en-US" b="true" sz="6069">
                <a:solidFill>
                  <a:srgbClr val="2E2F6F"/>
                </a:solidFill>
                <a:latin typeface="Poppins Bold"/>
                <a:ea typeface="Poppins Bold"/>
                <a:cs typeface="Poppins Bold"/>
                <a:sym typeface="Poppins Bold"/>
              </a:rPr>
              <a:t>Objectives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323" r="0" b="-16148"/>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319" r="0" b="-13153"/>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9" t="0" r="-2353" b="-21413"/>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518"/>
            </a:stretch>
          </a:blipFill>
        </p:spPr>
      </p:sp>
      <p:sp>
        <p:nvSpPr>
          <p:cNvPr name="Freeform 3" id="3"/>
          <p:cNvSpPr/>
          <p:nvPr/>
        </p:nvSpPr>
        <p:spPr>
          <a:xfrm flipH="false" flipV="false" rot="0">
            <a:off x="15529793" y="0"/>
            <a:ext cx="3822477" cy="1681890"/>
          </a:xfrm>
          <a:custGeom>
            <a:avLst/>
            <a:gdLst/>
            <a:ahLst/>
            <a:cxnLst/>
            <a:rect r="r" b="b" t="t" l="l"/>
            <a:pathLst>
              <a:path h="1681890" w="3822477">
                <a:moveTo>
                  <a:pt x="0" y="0"/>
                </a:moveTo>
                <a:lnTo>
                  <a:pt x="3822477" y="0"/>
                </a:lnTo>
                <a:lnTo>
                  <a:pt x="3822477" y="1681890"/>
                </a:lnTo>
                <a:lnTo>
                  <a:pt x="0" y="1681890"/>
                </a:lnTo>
                <a:lnTo>
                  <a:pt x="0" y="0"/>
                </a:lnTo>
                <a:close/>
              </a:path>
            </a:pathLst>
          </a:custGeom>
          <a:blipFill>
            <a:blip r:embed="rId3"/>
            <a:stretch>
              <a:fillRect l="0" t="0" r="0" b="0"/>
            </a:stretch>
          </a:blipFill>
        </p:spPr>
      </p:sp>
      <p:sp>
        <p:nvSpPr>
          <p:cNvPr name="Freeform 4" id="4"/>
          <p:cNvSpPr/>
          <p:nvPr/>
        </p:nvSpPr>
        <p:spPr>
          <a:xfrm flipH="false" flipV="false" rot="0">
            <a:off x="540695" y="1123950"/>
            <a:ext cx="10489519" cy="393764"/>
          </a:xfrm>
          <a:custGeom>
            <a:avLst/>
            <a:gdLst/>
            <a:ahLst/>
            <a:cxnLst/>
            <a:rect r="r" b="b" t="t" l="l"/>
            <a:pathLst>
              <a:path h="393764" w="10489519">
                <a:moveTo>
                  <a:pt x="0" y="0"/>
                </a:moveTo>
                <a:lnTo>
                  <a:pt x="10489518" y="0"/>
                </a:lnTo>
                <a:lnTo>
                  <a:pt x="10489518" y="393764"/>
                </a:lnTo>
                <a:lnTo>
                  <a:pt x="0" y="393764"/>
                </a:lnTo>
                <a:lnTo>
                  <a:pt x="0" y="0"/>
                </a:lnTo>
                <a:close/>
              </a:path>
            </a:pathLst>
          </a:custGeom>
          <a:blipFill>
            <a:blip r:embed="rId3"/>
            <a:stretch>
              <a:fillRect l="0" t="-415963" r="0" b="-656155"/>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25" t="0" r="-8266" b="-29954"/>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86115" y="443145"/>
            <a:ext cx="8396448" cy="9968321"/>
          </a:xfrm>
          <a:custGeom>
            <a:avLst/>
            <a:gdLst/>
            <a:ahLst/>
            <a:cxnLst/>
            <a:rect r="r" b="b" t="t" l="l"/>
            <a:pathLst>
              <a:path h="9968321" w="8396448">
                <a:moveTo>
                  <a:pt x="0" y="0"/>
                </a:moveTo>
                <a:lnTo>
                  <a:pt x="8396448" y="0"/>
                </a:lnTo>
                <a:lnTo>
                  <a:pt x="8396448" y="9968321"/>
                </a:lnTo>
                <a:lnTo>
                  <a:pt x="0" y="9968321"/>
                </a:lnTo>
                <a:lnTo>
                  <a:pt x="0" y="0"/>
                </a:lnTo>
                <a:close/>
              </a:path>
            </a:pathLst>
          </a:custGeom>
          <a:blipFill>
            <a:blip r:embed="rId2"/>
            <a:stretch>
              <a:fillRect l="-2593" t="-2047" r="-4728" b="0"/>
            </a:stretch>
          </a:blipFill>
        </p:spPr>
      </p:sp>
      <p:sp>
        <p:nvSpPr>
          <p:cNvPr name="Freeform 3" id="3"/>
          <p:cNvSpPr/>
          <p:nvPr/>
        </p:nvSpPr>
        <p:spPr>
          <a:xfrm flipH="false" flipV="false" rot="0">
            <a:off x="14711969" y="175804"/>
            <a:ext cx="3228108" cy="1285817"/>
          </a:xfrm>
          <a:custGeom>
            <a:avLst/>
            <a:gdLst/>
            <a:ahLst/>
            <a:cxnLst/>
            <a:rect r="r" b="b" t="t" l="l"/>
            <a:pathLst>
              <a:path h="1285817" w="3228108">
                <a:moveTo>
                  <a:pt x="0" y="0"/>
                </a:moveTo>
                <a:lnTo>
                  <a:pt x="3228109" y="0"/>
                </a:lnTo>
                <a:lnTo>
                  <a:pt x="3228109" y="1285817"/>
                </a:lnTo>
                <a:lnTo>
                  <a:pt x="0" y="1285817"/>
                </a:lnTo>
                <a:lnTo>
                  <a:pt x="0" y="0"/>
                </a:lnTo>
                <a:close/>
              </a:path>
            </a:pathLst>
          </a:custGeom>
          <a:blipFill>
            <a:blip r:embed="rId3"/>
            <a:stretch>
              <a:fillRect l="0" t="-1780" r="0" b="-1780"/>
            </a:stretch>
          </a:blipFill>
        </p:spPr>
      </p:sp>
      <p:sp>
        <p:nvSpPr>
          <p:cNvPr name="Freeform 4" id="4"/>
          <p:cNvSpPr/>
          <p:nvPr/>
        </p:nvSpPr>
        <p:spPr>
          <a:xfrm flipH="false" flipV="false" rot="0">
            <a:off x="1373567" y="9157040"/>
            <a:ext cx="2743892" cy="1129960"/>
          </a:xfrm>
          <a:custGeom>
            <a:avLst/>
            <a:gdLst/>
            <a:ahLst/>
            <a:cxnLst/>
            <a:rect r="r" b="b" t="t" l="l"/>
            <a:pathLst>
              <a:path h="1129960" w="2743892">
                <a:moveTo>
                  <a:pt x="0" y="0"/>
                </a:moveTo>
                <a:lnTo>
                  <a:pt x="2743892" y="0"/>
                </a:lnTo>
                <a:lnTo>
                  <a:pt x="2743892" y="1129960"/>
                </a:lnTo>
                <a:lnTo>
                  <a:pt x="0" y="1129960"/>
                </a:lnTo>
                <a:lnTo>
                  <a:pt x="0" y="0"/>
                </a:lnTo>
                <a:close/>
              </a:path>
            </a:pathLst>
          </a:custGeom>
          <a:blipFill>
            <a:blip r:embed="rId4"/>
            <a:stretch>
              <a:fillRect l="0" t="-1780" r="0" b="-1780"/>
            </a:stretch>
          </a:blipFill>
        </p:spPr>
      </p:sp>
      <p:sp>
        <p:nvSpPr>
          <p:cNvPr name="Freeform 5" id="5"/>
          <p:cNvSpPr/>
          <p:nvPr/>
        </p:nvSpPr>
        <p:spPr>
          <a:xfrm flipH="false" flipV="false" rot="0">
            <a:off x="16442095" y="3119270"/>
            <a:ext cx="2007480" cy="4091235"/>
          </a:xfrm>
          <a:custGeom>
            <a:avLst/>
            <a:gdLst/>
            <a:ahLst/>
            <a:cxnLst/>
            <a:rect r="r" b="b" t="t" l="l"/>
            <a:pathLst>
              <a:path h="4091235" w="2007480">
                <a:moveTo>
                  <a:pt x="0" y="0"/>
                </a:moveTo>
                <a:lnTo>
                  <a:pt x="2007480" y="0"/>
                </a:lnTo>
                <a:lnTo>
                  <a:pt x="2007480" y="4091236"/>
                </a:lnTo>
                <a:lnTo>
                  <a:pt x="0" y="4091236"/>
                </a:lnTo>
                <a:lnTo>
                  <a:pt x="0" y="0"/>
                </a:lnTo>
                <a:close/>
              </a:path>
            </a:pathLst>
          </a:custGeom>
          <a:blipFill>
            <a:blip r:embed="rId5"/>
            <a:stretch>
              <a:fillRect l="0" t="-1780" r="0" b="-1780"/>
            </a:stretch>
          </a:blipFill>
        </p:spPr>
      </p:sp>
      <p:sp>
        <p:nvSpPr>
          <p:cNvPr name="TextBox 6" id="6"/>
          <p:cNvSpPr txBox="true"/>
          <p:nvPr/>
        </p:nvSpPr>
        <p:spPr>
          <a:xfrm rot="0">
            <a:off x="-19050" y="52678"/>
            <a:ext cx="6205728" cy="704734"/>
          </a:xfrm>
          <a:prstGeom prst="rect">
            <a:avLst/>
          </a:prstGeom>
        </p:spPr>
        <p:txBody>
          <a:bodyPr anchor="t" rtlCol="false" tIns="0" lIns="0" bIns="0" rIns="0">
            <a:spAutoFit/>
          </a:bodyPr>
          <a:lstStyle/>
          <a:p>
            <a:pPr algn="l">
              <a:lnSpc>
                <a:spcPts val="5781"/>
              </a:lnSpc>
            </a:pPr>
            <a:r>
              <a:rPr lang="en-US" sz="4129" b="true">
                <a:solidFill>
                  <a:srgbClr val="000066"/>
                </a:solidFill>
                <a:latin typeface="Nunito Ultra-Bold"/>
                <a:ea typeface="Nunito Ultra-Bold"/>
                <a:cs typeface="Nunito Ultra-Bold"/>
                <a:sym typeface="Nunito Ultra-Bold"/>
              </a:rPr>
              <a:t>Content Calendar: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215436"/>
            <a:ext cx="4269589" cy="7042864"/>
            <a:chOff x="0" y="0"/>
            <a:chExt cx="614130" cy="1013032"/>
          </a:xfrm>
        </p:grpSpPr>
        <p:sp>
          <p:nvSpPr>
            <p:cNvPr name="Freeform 3" id="3"/>
            <p:cNvSpPr/>
            <p:nvPr/>
          </p:nvSpPr>
          <p:spPr>
            <a:xfrm flipH="false" flipV="false" rot="0">
              <a:off x="0" y="0"/>
              <a:ext cx="614130" cy="1013032"/>
            </a:xfrm>
            <a:custGeom>
              <a:avLst/>
              <a:gdLst/>
              <a:ahLst/>
              <a:cxnLst/>
              <a:rect r="r" b="b" t="t" l="l"/>
              <a:pathLst>
                <a:path h="1013032" w="614130">
                  <a:moveTo>
                    <a:pt x="0" y="0"/>
                  </a:moveTo>
                  <a:lnTo>
                    <a:pt x="614130" y="0"/>
                  </a:lnTo>
                  <a:lnTo>
                    <a:pt x="614130" y="1013032"/>
                  </a:lnTo>
                  <a:lnTo>
                    <a:pt x="0" y="1013032"/>
                  </a:lnTo>
                  <a:close/>
                </a:path>
              </a:pathLst>
            </a:custGeom>
            <a:blipFill>
              <a:blip r:embed="rId2"/>
              <a:stretch>
                <a:fillRect l="-21630" t="0" r="-21630" b="0"/>
              </a:stretch>
            </a:blipFill>
          </p:spPr>
        </p:sp>
      </p:grpSp>
      <p:grpSp>
        <p:nvGrpSpPr>
          <p:cNvPr name="Group 4" id="4"/>
          <p:cNvGrpSpPr/>
          <p:nvPr/>
        </p:nvGrpSpPr>
        <p:grpSpPr>
          <a:xfrm rot="0">
            <a:off x="5475819" y="2215436"/>
            <a:ext cx="4269589" cy="7042864"/>
            <a:chOff x="0" y="0"/>
            <a:chExt cx="614130" cy="1013032"/>
          </a:xfrm>
        </p:grpSpPr>
        <p:sp>
          <p:nvSpPr>
            <p:cNvPr name="Freeform 5" id="5"/>
            <p:cNvSpPr/>
            <p:nvPr/>
          </p:nvSpPr>
          <p:spPr>
            <a:xfrm flipH="false" flipV="false" rot="0">
              <a:off x="0" y="0"/>
              <a:ext cx="614130" cy="1013032"/>
            </a:xfrm>
            <a:custGeom>
              <a:avLst/>
              <a:gdLst/>
              <a:ahLst/>
              <a:cxnLst/>
              <a:rect r="r" b="b" t="t" l="l"/>
              <a:pathLst>
                <a:path h="1013032" w="614130">
                  <a:moveTo>
                    <a:pt x="0" y="0"/>
                  </a:moveTo>
                  <a:lnTo>
                    <a:pt x="614130" y="0"/>
                  </a:lnTo>
                  <a:lnTo>
                    <a:pt x="614130" y="1013032"/>
                  </a:lnTo>
                  <a:lnTo>
                    <a:pt x="0" y="1013032"/>
                  </a:lnTo>
                  <a:close/>
                </a:path>
              </a:pathLst>
            </a:custGeom>
            <a:blipFill>
              <a:blip r:embed="rId3"/>
              <a:stretch>
                <a:fillRect l="0" t="-13013" r="0" b="-21703"/>
              </a:stretch>
            </a:blipFill>
          </p:spPr>
        </p:sp>
      </p:grpSp>
      <p:sp>
        <p:nvSpPr>
          <p:cNvPr name="TextBox 6" id="6"/>
          <p:cNvSpPr txBox="true"/>
          <p:nvPr/>
        </p:nvSpPr>
        <p:spPr>
          <a:xfrm rot="0">
            <a:off x="9907333" y="1736089"/>
            <a:ext cx="8501414" cy="8465186"/>
          </a:xfrm>
          <a:prstGeom prst="rect">
            <a:avLst/>
          </a:prstGeom>
        </p:spPr>
        <p:txBody>
          <a:bodyPr anchor="t" rtlCol="false" tIns="0" lIns="0" bIns="0" rIns="0">
            <a:spAutoFit/>
          </a:bodyPr>
          <a:lstStyle/>
          <a:p>
            <a:pPr algn="l">
              <a:lnSpc>
                <a:spcPts val="5039"/>
              </a:lnSpc>
              <a:spcBef>
                <a:spcPct val="0"/>
              </a:spcBef>
            </a:pPr>
            <a:r>
              <a:rPr lang="en-US" b="true" sz="3599">
                <a:solidFill>
                  <a:srgbClr val="2E2F6F"/>
                </a:solidFill>
                <a:latin typeface="Cairo Bold"/>
                <a:ea typeface="Cairo Bold"/>
                <a:cs typeface="Cairo Bold"/>
                <a:sym typeface="Cairo Bold"/>
              </a:rPr>
              <a:t>Organic Content Campaign</a:t>
            </a:r>
          </a:p>
          <a:p>
            <a:pPr algn="l">
              <a:lnSpc>
                <a:spcPts val="4059"/>
              </a:lnSpc>
              <a:spcBef>
                <a:spcPct val="0"/>
              </a:spcBef>
            </a:pPr>
          </a:p>
          <a:p>
            <a:pPr algn="l">
              <a:lnSpc>
                <a:spcPts val="3639"/>
              </a:lnSpc>
              <a:spcBef>
                <a:spcPct val="0"/>
              </a:spcBef>
            </a:pPr>
            <a:r>
              <a:rPr lang="en-US" b="true" sz="2599" u="sng">
                <a:solidFill>
                  <a:srgbClr val="2E2F6F"/>
                </a:solidFill>
                <a:latin typeface="Cairo Bold"/>
                <a:ea typeface="Cairo Bold"/>
                <a:cs typeface="Cairo Bold"/>
                <a:sym typeface="Cairo Bold"/>
              </a:rPr>
              <a:t>Objective</a:t>
            </a:r>
          </a:p>
          <a:p>
            <a:pPr algn="l">
              <a:lnSpc>
                <a:spcPts val="3639"/>
              </a:lnSpc>
              <a:spcBef>
                <a:spcPct val="0"/>
              </a:spcBef>
            </a:pPr>
            <a:r>
              <a:rPr lang="en-US" b="true" sz="2599">
                <a:solidFill>
                  <a:srgbClr val="2E2F6F"/>
                </a:solidFill>
                <a:latin typeface="Cairo Bold"/>
                <a:ea typeface="Cairo Bold"/>
                <a:cs typeface="Cairo Bold"/>
                <a:sym typeface="Cairo Bold"/>
              </a:rPr>
              <a:t>Increase brand awareness for Sharp Shine products.</a:t>
            </a:r>
          </a:p>
          <a:p>
            <a:pPr algn="l">
              <a:lnSpc>
                <a:spcPts val="3639"/>
              </a:lnSpc>
              <a:spcBef>
                <a:spcPct val="0"/>
              </a:spcBef>
            </a:pPr>
            <a:r>
              <a:rPr lang="en-US" b="true" sz="2599">
                <a:solidFill>
                  <a:srgbClr val="2E2F6F"/>
                </a:solidFill>
                <a:latin typeface="Cairo Bold"/>
                <a:ea typeface="Cairo Bold"/>
                <a:cs typeface="Cairo Bold"/>
                <a:sym typeface="Cairo Bold"/>
              </a:rPr>
              <a:t>Introduce product features and benefits to potential customers.</a:t>
            </a:r>
          </a:p>
          <a:p>
            <a:pPr algn="l">
              <a:lnSpc>
                <a:spcPts val="3639"/>
              </a:lnSpc>
              <a:spcBef>
                <a:spcPct val="0"/>
              </a:spcBef>
            </a:pPr>
          </a:p>
          <a:p>
            <a:pPr algn="l">
              <a:lnSpc>
                <a:spcPts val="3639"/>
              </a:lnSpc>
              <a:spcBef>
                <a:spcPct val="0"/>
              </a:spcBef>
            </a:pPr>
            <a:r>
              <a:rPr lang="en-US" b="true" sz="2599" u="sng">
                <a:solidFill>
                  <a:srgbClr val="2E2F6F"/>
                </a:solidFill>
                <a:latin typeface="Cairo Bold"/>
                <a:ea typeface="Cairo Bold"/>
                <a:cs typeface="Cairo Bold"/>
                <a:sym typeface="Cairo Bold"/>
              </a:rPr>
              <a:t>Strategy</a:t>
            </a:r>
          </a:p>
          <a:p>
            <a:pPr algn="l">
              <a:lnSpc>
                <a:spcPts val="3639"/>
              </a:lnSpc>
              <a:spcBef>
                <a:spcPct val="0"/>
              </a:spcBef>
            </a:pPr>
            <a:r>
              <a:rPr lang="en-US" b="true" sz="2599">
                <a:solidFill>
                  <a:srgbClr val="2E2F6F"/>
                </a:solidFill>
                <a:latin typeface="Cairo Bold"/>
                <a:ea typeface="Cairo Bold"/>
                <a:cs typeface="Cairo Bold"/>
                <a:sym typeface="Cairo Bold"/>
              </a:rPr>
              <a:t>Used a teaser video to attract attention and create curiosity.</a:t>
            </a:r>
          </a:p>
          <a:p>
            <a:pPr algn="l">
              <a:lnSpc>
                <a:spcPts val="3639"/>
              </a:lnSpc>
              <a:spcBef>
                <a:spcPct val="0"/>
              </a:spcBef>
            </a:pPr>
            <a:r>
              <a:rPr lang="en-US" b="true" sz="2599">
                <a:solidFill>
                  <a:srgbClr val="2E2F6F"/>
                </a:solidFill>
                <a:latin typeface="Cairo Bold"/>
                <a:ea typeface="Cairo Bold"/>
                <a:cs typeface="Cairo Bold"/>
                <a:sym typeface="Cairo Bold"/>
              </a:rPr>
              <a:t>Followed with a product-focused post highlighting the benefits of Carnauba Wax through visual presentation.</a:t>
            </a:r>
          </a:p>
          <a:p>
            <a:pPr algn="l">
              <a:lnSpc>
                <a:spcPts val="3639"/>
              </a:lnSpc>
              <a:spcBef>
                <a:spcPct val="0"/>
              </a:spcBef>
            </a:pPr>
          </a:p>
          <a:p>
            <a:pPr algn="l">
              <a:lnSpc>
                <a:spcPts val="3639"/>
              </a:lnSpc>
              <a:spcBef>
                <a:spcPct val="0"/>
              </a:spcBef>
            </a:pPr>
            <a:r>
              <a:rPr lang="en-US" b="true" sz="2599" u="sng">
                <a:solidFill>
                  <a:srgbClr val="2E2F6F"/>
                </a:solidFill>
                <a:latin typeface="Cairo Bold"/>
                <a:ea typeface="Cairo Bold"/>
                <a:cs typeface="Cairo Bold"/>
                <a:sym typeface="Cairo Bold"/>
              </a:rPr>
              <a:t>Result</a:t>
            </a:r>
          </a:p>
          <a:p>
            <a:pPr algn="l">
              <a:lnSpc>
                <a:spcPts val="3639"/>
              </a:lnSpc>
              <a:spcBef>
                <a:spcPct val="0"/>
              </a:spcBef>
            </a:pPr>
            <a:r>
              <a:rPr lang="en-US" b="true" sz="2599">
                <a:solidFill>
                  <a:srgbClr val="2E2F6F"/>
                </a:solidFill>
                <a:latin typeface="Cairo Bold"/>
                <a:ea typeface="Cairo Bold"/>
                <a:cs typeface="Cairo Bold"/>
                <a:sym typeface="Cairo Bold"/>
              </a:rPr>
              <a:t>Enhanced brand visibility.</a:t>
            </a:r>
          </a:p>
          <a:p>
            <a:pPr algn="l">
              <a:lnSpc>
                <a:spcPts val="3639"/>
              </a:lnSpc>
              <a:spcBef>
                <a:spcPct val="0"/>
              </a:spcBef>
            </a:pPr>
            <a:r>
              <a:rPr lang="en-US" b="true" sz="2599">
                <a:solidFill>
                  <a:srgbClr val="2E2F6F"/>
                </a:solidFill>
                <a:latin typeface="Cairo Bold"/>
                <a:ea typeface="Cairo Bold"/>
                <a:cs typeface="Cairo Bold"/>
                <a:sym typeface="Cairo Bold"/>
              </a:rPr>
              <a:t>Improved audience engagement with the content.</a:t>
            </a:r>
          </a:p>
          <a:p>
            <a:pPr algn="l">
              <a:lnSpc>
                <a:spcPts val="3639"/>
              </a:lnSpc>
              <a:spcBef>
                <a:spcPct val="0"/>
              </a:spcBef>
            </a:pPr>
            <a:r>
              <a:rPr lang="en-US" b="true" sz="2599">
                <a:solidFill>
                  <a:srgbClr val="2E2F6F"/>
                </a:solidFill>
                <a:latin typeface="Cairo Bold"/>
                <a:ea typeface="Cairo Bold"/>
                <a:cs typeface="Cairo Bold"/>
                <a:sym typeface="Cairo Bold"/>
              </a:rPr>
              <a:t>Helped educate customers about the product range and its value.</a:t>
            </a:r>
          </a:p>
        </p:txBody>
      </p:sp>
      <p:sp>
        <p:nvSpPr>
          <p:cNvPr name="Freeform 7" id="7"/>
          <p:cNvSpPr/>
          <p:nvPr/>
        </p:nvSpPr>
        <p:spPr>
          <a:xfrm flipH="false" flipV="false" rot="0">
            <a:off x="0" y="0"/>
            <a:ext cx="1971675" cy="2143125"/>
          </a:xfrm>
          <a:custGeom>
            <a:avLst/>
            <a:gdLst/>
            <a:ahLst/>
            <a:cxnLst/>
            <a:rect r="r" b="b" t="t" l="l"/>
            <a:pathLst>
              <a:path h="2143125" w="1971675">
                <a:moveTo>
                  <a:pt x="0" y="0"/>
                </a:moveTo>
                <a:lnTo>
                  <a:pt x="1971675" y="0"/>
                </a:lnTo>
                <a:lnTo>
                  <a:pt x="1971675" y="2143125"/>
                </a:lnTo>
                <a:lnTo>
                  <a:pt x="0" y="2143125"/>
                </a:lnTo>
                <a:lnTo>
                  <a:pt x="0" y="0"/>
                </a:lnTo>
                <a:close/>
              </a:path>
            </a:pathLst>
          </a:custGeom>
          <a:blipFill>
            <a:blip r:embed="rId4"/>
            <a:stretch>
              <a:fillRect l="0" t="0" r="0" b="0"/>
            </a:stretch>
          </a:blipFill>
        </p:spPr>
      </p:sp>
      <p:sp>
        <p:nvSpPr>
          <p:cNvPr name="Freeform 8" id="8"/>
          <p:cNvSpPr/>
          <p:nvPr/>
        </p:nvSpPr>
        <p:spPr>
          <a:xfrm flipH="false" flipV="false" rot="0">
            <a:off x="15887700" y="8786812"/>
            <a:ext cx="2400300" cy="1500188"/>
          </a:xfrm>
          <a:custGeom>
            <a:avLst/>
            <a:gdLst/>
            <a:ahLst/>
            <a:cxnLst/>
            <a:rect r="r" b="b" t="t" l="l"/>
            <a:pathLst>
              <a:path h="1500188" w="2400300">
                <a:moveTo>
                  <a:pt x="0" y="0"/>
                </a:moveTo>
                <a:lnTo>
                  <a:pt x="2400300" y="0"/>
                </a:lnTo>
                <a:lnTo>
                  <a:pt x="2400300" y="1500188"/>
                </a:lnTo>
                <a:lnTo>
                  <a:pt x="0" y="1500188"/>
                </a:lnTo>
                <a:lnTo>
                  <a:pt x="0" y="0"/>
                </a:lnTo>
                <a:close/>
              </a:path>
            </a:pathLst>
          </a:custGeom>
          <a:blipFill>
            <a:blip r:embed="rId5"/>
            <a:stretch>
              <a:fillRect l="0" t="0" r="0" b="0"/>
            </a:stretch>
          </a:blipFill>
        </p:spPr>
      </p:sp>
      <p:sp>
        <p:nvSpPr>
          <p:cNvPr name="Freeform 9" id="9"/>
          <p:cNvSpPr/>
          <p:nvPr/>
        </p:nvSpPr>
        <p:spPr>
          <a:xfrm flipH="false" flipV="false" rot="0">
            <a:off x="15444788" y="2357438"/>
            <a:ext cx="2843212" cy="6000750"/>
          </a:xfrm>
          <a:custGeom>
            <a:avLst/>
            <a:gdLst/>
            <a:ahLst/>
            <a:cxnLst/>
            <a:rect r="r" b="b" t="t" l="l"/>
            <a:pathLst>
              <a:path h="6000750" w="2843212">
                <a:moveTo>
                  <a:pt x="0" y="0"/>
                </a:moveTo>
                <a:lnTo>
                  <a:pt x="2843212" y="0"/>
                </a:lnTo>
                <a:lnTo>
                  <a:pt x="2843212" y="6000750"/>
                </a:lnTo>
                <a:lnTo>
                  <a:pt x="0" y="6000750"/>
                </a:lnTo>
                <a:lnTo>
                  <a:pt x="0" y="0"/>
                </a:lnTo>
                <a:close/>
              </a:path>
            </a:pathLst>
          </a:custGeom>
          <a:blipFill>
            <a:blip r:embed="rId6"/>
            <a:stretch>
              <a:fillRect l="0" t="0" r="0" b="0"/>
            </a:stretch>
          </a:blipFill>
        </p:spPr>
      </p:sp>
      <p:sp>
        <p:nvSpPr>
          <p:cNvPr name="Freeform 10" id="10"/>
          <p:cNvSpPr/>
          <p:nvPr/>
        </p:nvSpPr>
        <p:spPr>
          <a:xfrm flipH="false" flipV="false" rot="0">
            <a:off x="0" y="2357438"/>
            <a:ext cx="1971675" cy="5786438"/>
          </a:xfrm>
          <a:custGeom>
            <a:avLst/>
            <a:gdLst/>
            <a:ahLst/>
            <a:cxnLst/>
            <a:rect r="r" b="b" t="t" l="l"/>
            <a:pathLst>
              <a:path h="5786438" w="1971675">
                <a:moveTo>
                  <a:pt x="0" y="0"/>
                </a:moveTo>
                <a:lnTo>
                  <a:pt x="1971675" y="0"/>
                </a:lnTo>
                <a:lnTo>
                  <a:pt x="1971675" y="5786437"/>
                </a:lnTo>
                <a:lnTo>
                  <a:pt x="0" y="5786437"/>
                </a:lnTo>
                <a:lnTo>
                  <a:pt x="0" y="0"/>
                </a:lnTo>
                <a:close/>
              </a:path>
            </a:pathLst>
          </a:custGeom>
          <a:blipFill>
            <a:blip r:embed="rId7"/>
            <a:stretch>
              <a:fillRect l="0" t="0" r="0" b="0"/>
            </a:stretch>
          </a:blipFill>
        </p:spPr>
      </p:sp>
      <p:sp>
        <p:nvSpPr>
          <p:cNvPr name="TextBox 11" id="11"/>
          <p:cNvSpPr txBox="true"/>
          <p:nvPr/>
        </p:nvSpPr>
        <p:spPr>
          <a:xfrm rot="0">
            <a:off x="1623960" y="62203"/>
            <a:ext cx="6205728" cy="572653"/>
          </a:xfrm>
          <a:prstGeom prst="rect">
            <a:avLst/>
          </a:prstGeom>
        </p:spPr>
        <p:txBody>
          <a:bodyPr anchor="t" rtlCol="false" tIns="0" lIns="0" bIns="0" rIns="0">
            <a:spAutoFit/>
          </a:bodyPr>
          <a:lstStyle/>
          <a:p>
            <a:pPr algn="l">
              <a:lnSpc>
                <a:spcPts val="4661"/>
              </a:lnSpc>
            </a:pPr>
            <a:r>
              <a:rPr lang="en-US" sz="3329" b="true">
                <a:solidFill>
                  <a:srgbClr val="000066"/>
                </a:solidFill>
                <a:latin typeface="Nunito Ultra-Bold"/>
                <a:ea typeface="Nunito Ultra-Bold"/>
                <a:cs typeface="Nunito Ultra-Bold"/>
                <a:sym typeface="Nunito Ultra-Bold"/>
              </a:rPr>
              <a:t>Example of content: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5845" y="1017314"/>
            <a:ext cx="8998155" cy="8790924"/>
          </a:xfrm>
          <a:custGeom>
            <a:avLst/>
            <a:gdLst/>
            <a:ahLst/>
            <a:cxnLst/>
            <a:rect r="r" b="b" t="t" l="l"/>
            <a:pathLst>
              <a:path h="8790924" w="8998155">
                <a:moveTo>
                  <a:pt x="0" y="0"/>
                </a:moveTo>
                <a:lnTo>
                  <a:pt x="8998155" y="0"/>
                </a:lnTo>
                <a:lnTo>
                  <a:pt x="8998155" y="8790924"/>
                </a:lnTo>
                <a:lnTo>
                  <a:pt x="0" y="8790924"/>
                </a:lnTo>
                <a:lnTo>
                  <a:pt x="0" y="0"/>
                </a:lnTo>
                <a:close/>
              </a:path>
            </a:pathLst>
          </a:custGeom>
          <a:blipFill>
            <a:blip r:embed="rId2"/>
            <a:stretch>
              <a:fillRect l="-12428" t="0" r="-26879" b="0"/>
            </a:stretch>
          </a:blipFill>
        </p:spPr>
      </p:sp>
      <p:sp>
        <p:nvSpPr>
          <p:cNvPr name="Freeform 3" id="3"/>
          <p:cNvSpPr/>
          <p:nvPr/>
        </p:nvSpPr>
        <p:spPr>
          <a:xfrm flipH="false" flipV="false" rot="0">
            <a:off x="8978079" y="0"/>
            <a:ext cx="8998316" cy="10845032"/>
          </a:xfrm>
          <a:custGeom>
            <a:avLst/>
            <a:gdLst/>
            <a:ahLst/>
            <a:cxnLst/>
            <a:rect r="r" b="b" t="t" l="l"/>
            <a:pathLst>
              <a:path h="10845032" w="8998316">
                <a:moveTo>
                  <a:pt x="0" y="0"/>
                </a:moveTo>
                <a:lnTo>
                  <a:pt x="8998316" y="0"/>
                </a:lnTo>
                <a:lnTo>
                  <a:pt x="8998316" y="10845032"/>
                </a:lnTo>
                <a:lnTo>
                  <a:pt x="0" y="10845032"/>
                </a:lnTo>
                <a:lnTo>
                  <a:pt x="0" y="0"/>
                </a:lnTo>
                <a:close/>
              </a:path>
            </a:pathLst>
          </a:custGeom>
          <a:blipFill>
            <a:blip r:embed="rId3"/>
            <a:stretch>
              <a:fillRect l="-11309" t="-4589" r="-20019" b="0"/>
            </a:stretch>
          </a:blipFill>
        </p:spPr>
      </p:sp>
      <p:sp>
        <p:nvSpPr>
          <p:cNvPr name="Freeform 4" id="4"/>
          <p:cNvSpPr/>
          <p:nvPr/>
        </p:nvSpPr>
        <p:spPr>
          <a:xfrm flipH="false" flipV="false" rot="0">
            <a:off x="14920504" y="400050"/>
            <a:ext cx="3048000" cy="1257300"/>
          </a:xfrm>
          <a:custGeom>
            <a:avLst/>
            <a:gdLst/>
            <a:ahLst/>
            <a:cxnLst/>
            <a:rect r="r" b="b" t="t" l="l"/>
            <a:pathLst>
              <a:path h="1257300" w="3048000">
                <a:moveTo>
                  <a:pt x="0" y="0"/>
                </a:moveTo>
                <a:lnTo>
                  <a:pt x="3048000" y="0"/>
                </a:lnTo>
                <a:lnTo>
                  <a:pt x="3048000" y="1257300"/>
                </a:lnTo>
                <a:lnTo>
                  <a:pt x="0" y="1257300"/>
                </a:lnTo>
                <a:lnTo>
                  <a:pt x="0" y="0"/>
                </a:lnTo>
                <a:close/>
              </a:path>
            </a:pathLst>
          </a:custGeom>
          <a:blipFill>
            <a:blip r:embed="rId4"/>
            <a:stretch>
              <a:fillRect l="0" t="0" r="0" b="0"/>
            </a:stretch>
          </a:blipFill>
        </p:spPr>
      </p:sp>
      <p:sp>
        <p:nvSpPr>
          <p:cNvPr name="Freeform 5" id="5"/>
          <p:cNvSpPr/>
          <p:nvPr/>
        </p:nvSpPr>
        <p:spPr>
          <a:xfrm flipH="false" flipV="false" rot="0">
            <a:off x="9350379" y="9182100"/>
            <a:ext cx="2590800" cy="1104900"/>
          </a:xfrm>
          <a:custGeom>
            <a:avLst/>
            <a:gdLst/>
            <a:ahLst/>
            <a:cxnLst/>
            <a:rect r="r" b="b" t="t" l="l"/>
            <a:pathLst>
              <a:path h="1104900" w="2590800">
                <a:moveTo>
                  <a:pt x="0" y="0"/>
                </a:moveTo>
                <a:lnTo>
                  <a:pt x="2590800" y="0"/>
                </a:lnTo>
                <a:lnTo>
                  <a:pt x="2590800" y="1104900"/>
                </a:lnTo>
                <a:lnTo>
                  <a:pt x="0" y="1104900"/>
                </a:lnTo>
                <a:lnTo>
                  <a:pt x="0" y="0"/>
                </a:lnTo>
                <a:close/>
              </a:path>
            </a:pathLst>
          </a:custGeom>
          <a:blipFill>
            <a:blip r:embed="rId5"/>
            <a:stretch>
              <a:fillRect l="0" t="0" r="0" b="0"/>
            </a:stretch>
          </a:blipFill>
        </p:spPr>
      </p:sp>
      <p:sp>
        <p:nvSpPr>
          <p:cNvPr name="Freeform 6" id="6"/>
          <p:cNvSpPr/>
          <p:nvPr/>
        </p:nvSpPr>
        <p:spPr>
          <a:xfrm flipH="false" flipV="false" rot="0">
            <a:off x="16554100" y="3278236"/>
            <a:ext cx="1895475" cy="4000500"/>
          </a:xfrm>
          <a:custGeom>
            <a:avLst/>
            <a:gdLst/>
            <a:ahLst/>
            <a:cxnLst/>
            <a:rect r="r" b="b" t="t" l="l"/>
            <a:pathLst>
              <a:path h="4000500" w="1895475">
                <a:moveTo>
                  <a:pt x="0" y="0"/>
                </a:moveTo>
                <a:lnTo>
                  <a:pt x="1895475" y="0"/>
                </a:lnTo>
                <a:lnTo>
                  <a:pt x="1895475" y="4000500"/>
                </a:lnTo>
                <a:lnTo>
                  <a:pt x="0" y="4000500"/>
                </a:lnTo>
                <a:lnTo>
                  <a:pt x="0" y="0"/>
                </a:lnTo>
                <a:close/>
              </a:path>
            </a:pathLst>
          </a:custGeom>
          <a:blipFill>
            <a:blip r:embed="rId6"/>
            <a:stretch>
              <a:fillRect l="0" t="0" r="0" b="0"/>
            </a:stretch>
          </a:blipFill>
        </p:spPr>
      </p:sp>
      <p:sp>
        <p:nvSpPr>
          <p:cNvPr name="TextBox 7" id="7"/>
          <p:cNvSpPr txBox="true"/>
          <p:nvPr/>
        </p:nvSpPr>
        <p:spPr>
          <a:xfrm rot="0">
            <a:off x="877824" y="52678"/>
            <a:ext cx="6205728" cy="704734"/>
          </a:xfrm>
          <a:prstGeom prst="rect">
            <a:avLst/>
          </a:prstGeom>
        </p:spPr>
        <p:txBody>
          <a:bodyPr anchor="t" rtlCol="false" tIns="0" lIns="0" bIns="0" rIns="0">
            <a:spAutoFit/>
          </a:bodyPr>
          <a:lstStyle/>
          <a:p>
            <a:pPr algn="l">
              <a:lnSpc>
                <a:spcPts val="5781"/>
              </a:lnSpc>
            </a:pPr>
            <a:r>
              <a:rPr lang="en-US" sz="4129" b="true">
                <a:solidFill>
                  <a:srgbClr val="000066"/>
                </a:solidFill>
                <a:latin typeface="Nunito Ultra-Bold"/>
                <a:ea typeface="Nunito Ultra-Bold"/>
                <a:cs typeface="Nunito Ultra-Bold"/>
                <a:sym typeface="Nunito Ultra-Bold"/>
              </a:rPr>
              <a:t>scripts: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973930"/>
            <a:ext cx="4269589" cy="7042864"/>
            <a:chOff x="0" y="0"/>
            <a:chExt cx="614130" cy="1013032"/>
          </a:xfrm>
        </p:grpSpPr>
        <p:sp>
          <p:nvSpPr>
            <p:cNvPr name="Freeform 3" id="3"/>
            <p:cNvSpPr/>
            <p:nvPr/>
          </p:nvSpPr>
          <p:spPr>
            <a:xfrm flipH="false" flipV="false" rot="0">
              <a:off x="0" y="0"/>
              <a:ext cx="614130" cy="1013032"/>
            </a:xfrm>
            <a:custGeom>
              <a:avLst/>
              <a:gdLst/>
              <a:ahLst/>
              <a:cxnLst/>
              <a:rect r="r" b="b" t="t" l="l"/>
              <a:pathLst>
                <a:path h="1013032" w="614130">
                  <a:moveTo>
                    <a:pt x="0" y="0"/>
                  </a:moveTo>
                  <a:lnTo>
                    <a:pt x="614130" y="0"/>
                  </a:lnTo>
                  <a:lnTo>
                    <a:pt x="614130" y="1013032"/>
                  </a:lnTo>
                  <a:lnTo>
                    <a:pt x="0" y="1013032"/>
                  </a:lnTo>
                  <a:close/>
                </a:path>
              </a:pathLst>
            </a:custGeom>
            <a:blipFill>
              <a:blip r:embed="rId2"/>
              <a:stretch>
                <a:fillRect l="0" t="-3901" r="0" b="-3901"/>
              </a:stretch>
            </a:blipFill>
          </p:spPr>
        </p:sp>
      </p:grpSp>
      <p:grpSp>
        <p:nvGrpSpPr>
          <p:cNvPr name="Group 4" id="4"/>
          <p:cNvGrpSpPr/>
          <p:nvPr/>
        </p:nvGrpSpPr>
        <p:grpSpPr>
          <a:xfrm rot="0">
            <a:off x="5656794" y="2973930"/>
            <a:ext cx="6023607" cy="7042864"/>
            <a:chOff x="0" y="0"/>
            <a:chExt cx="866424" cy="1013032"/>
          </a:xfrm>
        </p:grpSpPr>
        <p:sp>
          <p:nvSpPr>
            <p:cNvPr name="Freeform 5" id="5"/>
            <p:cNvSpPr/>
            <p:nvPr/>
          </p:nvSpPr>
          <p:spPr>
            <a:xfrm flipH="false" flipV="false" rot="0">
              <a:off x="0" y="0"/>
              <a:ext cx="866424" cy="1013032"/>
            </a:xfrm>
            <a:custGeom>
              <a:avLst/>
              <a:gdLst/>
              <a:ahLst/>
              <a:cxnLst/>
              <a:rect r="r" b="b" t="t" l="l"/>
              <a:pathLst>
                <a:path h="1013032" w="866424">
                  <a:moveTo>
                    <a:pt x="0" y="0"/>
                  </a:moveTo>
                  <a:lnTo>
                    <a:pt x="866424" y="0"/>
                  </a:lnTo>
                  <a:lnTo>
                    <a:pt x="866424" y="1013032"/>
                  </a:lnTo>
                  <a:lnTo>
                    <a:pt x="0" y="1013032"/>
                  </a:lnTo>
                  <a:close/>
                </a:path>
              </a:pathLst>
            </a:custGeom>
            <a:blipFill>
              <a:blip r:embed="rId3"/>
              <a:stretch>
                <a:fillRect l="-463" t="0" r="-463" b="0"/>
              </a:stretch>
            </a:blipFill>
          </p:spPr>
        </p:sp>
      </p:grpSp>
      <p:sp>
        <p:nvSpPr>
          <p:cNvPr name="TextBox 6" id="6"/>
          <p:cNvSpPr txBox="true"/>
          <p:nvPr/>
        </p:nvSpPr>
        <p:spPr>
          <a:xfrm rot="0">
            <a:off x="12147125" y="1948411"/>
            <a:ext cx="6719829" cy="2438400"/>
          </a:xfrm>
          <a:prstGeom prst="rect">
            <a:avLst/>
          </a:prstGeom>
        </p:spPr>
        <p:txBody>
          <a:bodyPr anchor="t" rtlCol="false" tIns="0" lIns="0" bIns="0" rIns="0">
            <a:spAutoFit/>
          </a:bodyPr>
          <a:lstStyle/>
          <a:p>
            <a:pPr algn="l">
              <a:lnSpc>
                <a:spcPts val="9600"/>
              </a:lnSpc>
            </a:pPr>
            <a:r>
              <a:rPr lang="en-US" sz="8000">
                <a:solidFill>
                  <a:srgbClr val="2E2F6F"/>
                </a:solidFill>
                <a:latin typeface="Anton"/>
                <a:ea typeface="Anton"/>
                <a:cs typeface="Anton"/>
                <a:sym typeface="Anton"/>
              </a:rPr>
              <a:t>REAL TIME MARKETING</a:t>
            </a:r>
          </a:p>
        </p:txBody>
      </p:sp>
      <p:sp>
        <p:nvSpPr>
          <p:cNvPr name="TextBox 7" id="7"/>
          <p:cNvSpPr txBox="true"/>
          <p:nvPr/>
        </p:nvSpPr>
        <p:spPr>
          <a:xfrm rot="0">
            <a:off x="12042350" y="4329661"/>
            <a:ext cx="5973570" cy="4939031"/>
          </a:xfrm>
          <a:prstGeom prst="rect">
            <a:avLst/>
          </a:prstGeom>
        </p:spPr>
        <p:txBody>
          <a:bodyPr anchor="t" rtlCol="false" tIns="0" lIns="0" bIns="0" rIns="0">
            <a:spAutoFit/>
          </a:bodyPr>
          <a:lstStyle/>
          <a:p>
            <a:pPr algn="ctr">
              <a:lnSpc>
                <a:spcPts val="3919"/>
              </a:lnSpc>
              <a:spcBef>
                <a:spcPct val="0"/>
              </a:spcBef>
            </a:pPr>
            <a:r>
              <a:rPr lang="en-US" b="true" sz="2799">
                <a:solidFill>
                  <a:srgbClr val="2E2F6F"/>
                </a:solidFill>
                <a:latin typeface="Cairo Bold"/>
                <a:ea typeface="Cairo Bold"/>
                <a:cs typeface="Cairo Bold"/>
                <a:sym typeface="Cairo Bold"/>
              </a:rPr>
              <a:t>Real-Time Marketing Activation – Eid Al-Adha (planned)</a:t>
            </a:r>
          </a:p>
          <a:p>
            <a:pPr algn="ctr">
              <a:lnSpc>
                <a:spcPts val="3919"/>
              </a:lnSpc>
              <a:spcBef>
                <a:spcPct val="0"/>
              </a:spcBef>
            </a:pPr>
          </a:p>
          <a:p>
            <a:pPr algn="l">
              <a:lnSpc>
                <a:spcPts val="3919"/>
              </a:lnSpc>
              <a:spcBef>
                <a:spcPct val="0"/>
              </a:spcBef>
            </a:pPr>
            <a:r>
              <a:rPr lang="en-US" sz="2799">
                <a:solidFill>
                  <a:srgbClr val="2E2F6F"/>
                </a:solidFill>
                <a:latin typeface="Cairo"/>
                <a:ea typeface="Cairo"/>
                <a:cs typeface="Cairo"/>
                <a:sym typeface="Cairo"/>
              </a:rPr>
              <a:t>• Developed a seasonal Eid campaign.</a:t>
            </a:r>
          </a:p>
          <a:p>
            <a:pPr algn="l">
              <a:lnSpc>
                <a:spcPts val="3919"/>
              </a:lnSpc>
              <a:spcBef>
                <a:spcPct val="0"/>
              </a:spcBef>
            </a:pPr>
            <a:r>
              <a:rPr lang="en-US" sz="2799">
                <a:solidFill>
                  <a:srgbClr val="2E2F6F"/>
                </a:solidFill>
                <a:latin typeface="Cairo"/>
                <a:ea typeface="Cairo"/>
                <a:cs typeface="Cairo"/>
                <a:sym typeface="Cairo"/>
              </a:rPr>
              <a:t>• Increased brand awareness through timely content.</a:t>
            </a:r>
          </a:p>
          <a:p>
            <a:pPr algn="l">
              <a:lnSpc>
                <a:spcPts val="3919"/>
              </a:lnSpc>
              <a:spcBef>
                <a:spcPct val="0"/>
              </a:spcBef>
            </a:pPr>
            <a:r>
              <a:rPr lang="en-US" sz="2799">
                <a:solidFill>
                  <a:srgbClr val="2E2F6F"/>
                </a:solidFill>
                <a:latin typeface="Cairo"/>
                <a:ea typeface="Cairo"/>
                <a:cs typeface="Cairo"/>
                <a:sym typeface="Cairo"/>
              </a:rPr>
              <a:t>• Launched a paid ad campaign to maximize reach and engagement.</a:t>
            </a:r>
          </a:p>
          <a:p>
            <a:pPr algn="l">
              <a:lnSpc>
                <a:spcPts val="3919"/>
              </a:lnSpc>
              <a:spcBef>
                <a:spcPct val="0"/>
              </a:spcBef>
            </a:pPr>
            <a:r>
              <a:rPr lang="en-US" sz="2799">
                <a:solidFill>
                  <a:srgbClr val="2E2F6F"/>
                </a:solidFill>
                <a:latin typeface="Cairo"/>
                <a:ea typeface="Cairo"/>
                <a:cs typeface="Cairo"/>
                <a:sym typeface="Cairo"/>
              </a:rPr>
              <a:t>• Strengthened brand presence during a high-traffic occasion.</a:t>
            </a:r>
          </a:p>
        </p:txBody>
      </p:sp>
      <p:sp>
        <p:nvSpPr>
          <p:cNvPr name="Freeform 8" id="8"/>
          <p:cNvSpPr/>
          <p:nvPr/>
        </p:nvSpPr>
        <p:spPr>
          <a:xfrm flipH="false" flipV="false" rot="0">
            <a:off x="0" y="0"/>
            <a:ext cx="1971675" cy="2143125"/>
          </a:xfrm>
          <a:custGeom>
            <a:avLst/>
            <a:gdLst/>
            <a:ahLst/>
            <a:cxnLst/>
            <a:rect r="r" b="b" t="t" l="l"/>
            <a:pathLst>
              <a:path h="2143125" w="1971675">
                <a:moveTo>
                  <a:pt x="0" y="0"/>
                </a:moveTo>
                <a:lnTo>
                  <a:pt x="1971675" y="0"/>
                </a:lnTo>
                <a:lnTo>
                  <a:pt x="1971675" y="2143125"/>
                </a:lnTo>
                <a:lnTo>
                  <a:pt x="0" y="2143125"/>
                </a:lnTo>
                <a:lnTo>
                  <a:pt x="0" y="0"/>
                </a:lnTo>
                <a:close/>
              </a:path>
            </a:pathLst>
          </a:custGeom>
          <a:blipFill>
            <a:blip r:embed="rId4"/>
            <a:stretch>
              <a:fillRect l="0" t="0" r="0" b="0"/>
            </a:stretch>
          </a:blipFill>
        </p:spPr>
      </p:sp>
      <p:sp>
        <p:nvSpPr>
          <p:cNvPr name="Freeform 9" id="9"/>
          <p:cNvSpPr/>
          <p:nvPr/>
        </p:nvSpPr>
        <p:spPr>
          <a:xfrm flipH="false" flipV="false" rot="0">
            <a:off x="15887700" y="8786812"/>
            <a:ext cx="2400300" cy="1500188"/>
          </a:xfrm>
          <a:custGeom>
            <a:avLst/>
            <a:gdLst/>
            <a:ahLst/>
            <a:cxnLst/>
            <a:rect r="r" b="b" t="t" l="l"/>
            <a:pathLst>
              <a:path h="1500188" w="2400300">
                <a:moveTo>
                  <a:pt x="0" y="0"/>
                </a:moveTo>
                <a:lnTo>
                  <a:pt x="2400300" y="0"/>
                </a:lnTo>
                <a:lnTo>
                  <a:pt x="2400300" y="1500188"/>
                </a:lnTo>
                <a:lnTo>
                  <a:pt x="0" y="1500188"/>
                </a:lnTo>
                <a:lnTo>
                  <a:pt x="0" y="0"/>
                </a:lnTo>
                <a:close/>
              </a:path>
            </a:pathLst>
          </a:custGeom>
          <a:blipFill>
            <a:blip r:embed="rId5"/>
            <a:stretch>
              <a:fillRect l="0" t="0" r="0" b="0"/>
            </a:stretch>
          </a:blipFill>
        </p:spPr>
      </p:sp>
      <p:sp>
        <p:nvSpPr>
          <p:cNvPr name="Freeform 10" id="10"/>
          <p:cNvSpPr/>
          <p:nvPr/>
        </p:nvSpPr>
        <p:spPr>
          <a:xfrm flipH="false" flipV="false" rot="0">
            <a:off x="15444788" y="2357438"/>
            <a:ext cx="2843212" cy="6000750"/>
          </a:xfrm>
          <a:custGeom>
            <a:avLst/>
            <a:gdLst/>
            <a:ahLst/>
            <a:cxnLst/>
            <a:rect r="r" b="b" t="t" l="l"/>
            <a:pathLst>
              <a:path h="6000750" w="2843212">
                <a:moveTo>
                  <a:pt x="0" y="0"/>
                </a:moveTo>
                <a:lnTo>
                  <a:pt x="2843212" y="0"/>
                </a:lnTo>
                <a:lnTo>
                  <a:pt x="2843212" y="6000750"/>
                </a:lnTo>
                <a:lnTo>
                  <a:pt x="0" y="6000750"/>
                </a:lnTo>
                <a:lnTo>
                  <a:pt x="0" y="0"/>
                </a:lnTo>
                <a:close/>
              </a:path>
            </a:pathLst>
          </a:custGeom>
          <a:blipFill>
            <a:blip r:embed="rId6"/>
            <a:stretch>
              <a:fillRect l="0" t="0" r="0" b="0"/>
            </a:stretch>
          </a:blipFill>
        </p:spPr>
      </p:sp>
      <p:sp>
        <p:nvSpPr>
          <p:cNvPr name="Freeform 11" id="11"/>
          <p:cNvSpPr/>
          <p:nvPr/>
        </p:nvSpPr>
        <p:spPr>
          <a:xfrm flipH="false" flipV="false" rot="0">
            <a:off x="0" y="2357438"/>
            <a:ext cx="1971675" cy="5786438"/>
          </a:xfrm>
          <a:custGeom>
            <a:avLst/>
            <a:gdLst/>
            <a:ahLst/>
            <a:cxnLst/>
            <a:rect r="r" b="b" t="t" l="l"/>
            <a:pathLst>
              <a:path h="5786438" w="1971675">
                <a:moveTo>
                  <a:pt x="0" y="0"/>
                </a:moveTo>
                <a:lnTo>
                  <a:pt x="1971675" y="0"/>
                </a:lnTo>
                <a:lnTo>
                  <a:pt x="1971675" y="5786437"/>
                </a:lnTo>
                <a:lnTo>
                  <a:pt x="0" y="5786437"/>
                </a:lnTo>
                <a:lnTo>
                  <a:pt x="0" y="0"/>
                </a:lnTo>
                <a:close/>
              </a:path>
            </a:pathLst>
          </a:custGeom>
          <a:blipFill>
            <a:blip r:embed="rId7"/>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668493"/>
            <a:ext cx="4599674" cy="7589807"/>
            <a:chOff x="0" y="0"/>
            <a:chExt cx="613931" cy="1013032"/>
          </a:xfrm>
        </p:grpSpPr>
        <p:sp>
          <p:nvSpPr>
            <p:cNvPr name="Freeform 3" id="3"/>
            <p:cNvSpPr/>
            <p:nvPr/>
          </p:nvSpPr>
          <p:spPr>
            <a:xfrm flipH="false" flipV="false" rot="0">
              <a:off x="0" y="0"/>
              <a:ext cx="613931" cy="1013032"/>
            </a:xfrm>
            <a:custGeom>
              <a:avLst/>
              <a:gdLst/>
              <a:ahLst/>
              <a:cxnLst/>
              <a:rect r="r" b="b" t="t" l="l"/>
              <a:pathLst>
                <a:path h="1013032" w="613931">
                  <a:moveTo>
                    <a:pt x="0" y="0"/>
                  </a:moveTo>
                  <a:lnTo>
                    <a:pt x="613931" y="0"/>
                  </a:lnTo>
                  <a:lnTo>
                    <a:pt x="613931" y="1013032"/>
                  </a:lnTo>
                  <a:lnTo>
                    <a:pt x="0" y="1013032"/>
                  </a:lnTo>
                  <a:close/>
                </a:path>
              </a:pathLst>
            </a:custGeom>
            <a:blipFill>
              <a:blip r:embed="rId2"/>
              <a:stretch>
                <a:fillRect l="-16" t="0" r="-10665" b="0"/>
              </a:stretch>
            </a:blipFill>
          </p:spPr>
        </p:sp>
      </p:grpSp>
      <p:grpSp>
        <p:nvGrpSpPr>
          <p:cNvPr name="Group 4" id="4"/>
          <p:cNvGrpSpPr/>
          <p:nvPr/>
        </p:nvGrpSpPr>
        <p:grpSpPr>
          <a:xfrm rot="0">
            <a:off x="4694924" y="1762247"/>
            <a:ext cx="4449076" cy="7496053"/>
            <a:chOff x="0" y="0"/>
            <a:chExt cx="601257" cy="1013032"/>
          </a:xfrm>
        </p:grpSpPr>
        <p:sp>
          <p:nvSpPr>
            <p:cNvPr name="Freeform 5" id="5"/>
            <p:cNvSpPr/>
            <p:nvPr/>
          </p:nvSpPr>
          <p:spPr>
            <a:xfrm flipH="false" flipV="false" rot="0">
              <a:off x="0" y="0"/>
              <a:ext cx="601257" cy="1013032"/>
            </a:xfrm>
            <a:custGeom>
              <a:avLst/>
              <a:gdLst/>
              <a:ahLst/>
              <a:cxnLst/>
              <a:rect r="r" b="b" t="t" l="l"/>
              <a:pathLst>
                <a:path h="1013032" w="601257">
                  <a:moveTo>
                    <a:pt x="0" y="0"/>
                  </a:moveTo>
                  <a:lnTo>
                    <a:pt x="601257" y="0"/>
                  </a:lnTo>
                  <a:lnTo>
                    <a:pt x="601257" y="1013032"/>
                  </a:lnTo>
                  <a:lnTo>
                    <a:pt x="0" y="1013032"/>
                  </a:lnTo>
                  <a:close/>
                </a:path>
              </a:pathLst>
            </a:custGeom>
            <a:blipFill>
              <a:blip r:embed="rId3"/>
              <a:stretch>
                <a:fillRect l="-1070" t="0" r="-5637" b="0"/>
              </a:stretch>
            </a:blipFill>
          </p:spPr>
        </p:sp>
      </p:grpSp>
      <p:sp>
        <p:nvSpPr>
          <p:cNvPr name="TextBox 6" id="6"/>
          <p:cNvSpPr txBox="true"/>
          <p:nvPr/>
        </p:nvSpPr>
        <p:spPr>
          <a:xfrm rot="0">
            <a:off x="9239250" y="1611343"/>
            <a:ext cx="8860218" cy="7489415"/>
          </a:xfrm>
          <a:prstGeom prst="rect">
            <a:avLst/>
          </a:prstGeom>
        </p:spPr>
        <p:txBody>
          <a:bodyPr anchor="t" rtlCol="false" tIns="0" lIns="0" bIns="0" rIns="0">
            <a:spAutoFit/>
          </a:bodyPr>
          <a:lstStyle/>
          <a:p>
            <a:pPr algn="l">
              <a:lnSpc>
                <a:spcPts val="4462"/>
              </a:lnSpc>
            </a:pPr>
            <a:r>
              <a:rPr lang="en-US" b="true" sz="3187">
                <a:solidFill>
                  <a:srgbClr val="2E2F6F"/>
                </a:solidFill>
                <a:latin typeface="Cairo Bold"/>
                <a:ea typeface="Cairo Bold"/>
                <a:cs typeface="Cairo Bold"/>
                <a:sym typeface="Cairo Bold"/>
              </a:rPr>
              <a:t>Sponsored Product C</a:t>
            </a:r>
            <a:r>
              <a:rPr lang="en-US" b="true" sz="3187">
                <a:solidFill>
                  <a:srgbClr val="2E2F6F"/>
                </a:solidFill>
                <a:latin typeface="Cairo Bold"/>
                <a:ea typeface="Cairo Bold"/>
                <a:cs typeface="Cairo Bold"/>
                <a:sym typeface="Cairo Bold"/>
              </a:rPr>
              <a:t>ampaigns</a:t>
            </a:r>
          </a:p>
          <a:p>
            <a:pPr algn="l">
              <a:lnSpc>
                <a:spcPts val="3442"/>
              </a:lnSpc>
            </a:pPr>
          </a:p>
          <a:p>
            <a:pPr algn="l">
              <a:lnSpc>
                <a:spcPts val="3442"/>
              </a:lnSpc>
            </a:pPr>
            <a:r>
              <a:rPr lang="en-US" b="true" sz="2459" u="sng">
                <a:solidFill>
                  <a:srgbClr val="2E2F6F"/>
                </a:solidFill>
                <a:latin typeface="Cairo Bold"/>
                <a:ea typeface="Cairo Bold"/>
                <a:cs typeface="Cairo Bold"/>
                <a:sym typeface="Cairo Bold"/>
              </a:rPr>
              <a:t>Objective</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Increase awareness of Sharp Shine products.</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Generate customer inquiries and sales opportunities.</a:t>
            </a:r>
          </a:p>
          <a:p>
            <a:pPr algn="l">
              <a:lnSpc>
                <a:spcPts val="3442"/>
              </a:lnSpc>
            </a:pPr>
          </a:p>
          <a:p>
            <a:pPr algn="l">
              <a:lnSpc>
                <a:spcPts val="3442"/>
              </a:lnSpc>
            </a:pPr>
            <a:r>
              <a:rPr lang="en-US" b="true" sz="2459" u="sng">
                <a:solidFill>
                  <a:srgbClr val="2E2F6F"/>
                </a:solidFill>
                <a:latin typeface="Cairo Bold"/>
                <a:ea typeface="Cairo Bold"/>
                <a:cs typeface="Cairo Bold"/>
                <a:sym typeface="Cairo Bold"/>
              </a:rPr>
              <a:t>Strategy</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Highlight product quality, certifications, and key benefits.</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Showcase multiple products for different car care needs.</a:t>
            </a:r>
          </a:p>
          <a:p>
            <a:pPr algn="l">
              <a:lnSpc>
                <a:spcPts val="3442"/>
              </a:lnSpc>
            </a:pPr>
          </a:p>
          <a:p>
            <a:pPr algn="l">
              <a:lnSpc>
                <a:spcPts val="3442"/>
              </a:lnSpc>
            </a:pPr>
            <a:r>
              <a:rPr lang="en-US" b="true" sz="2459" u="sng">
                <a:solidFill>
                  <a:srgbClr val="2E2F6F"/>
                </a:solidFill>
                <a:latin typeface="Cairo Bold"/>
                <a:ea typeface="Cairo Bold"/>
                <a:cs typeface="Cairo Bold"/>
                <a:sym typeface="Cairo Bold"/>
              </a:rPr>
              <a:t>Paid Ads Impact</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Expanded reach to targeted audiences.</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Increased engagement and Messenger inquiries.</a:t>
            </a:r>
          </a:p>
          <a:p>
            <a:pPr algn="l">
              <a:lnSpc>
                <a:spcPts val="3442"/>
              </a:lnSpc>
            </a:pPr>
          </a:p>
          <a:p>
            <a:pPr algn="l">
              <a:lnSpc>
                <a:spcPts val="3442"/>
              </a:lnSpc>
            </a:pPr>
            <a:r>
              <a:rPr lang="en-US" b="true" sz="2459" u="sng">
                <a:solidFill>
                  <a:srgbClr val="2E2F6F"/>
                </a:solidFill>
                <a:latin typeface="Cairo Bold"/>
                <a:ea typeface="Cairo Bold"/>
                <a:cs typeface="Cairo Bold"/>
                <a:sym typeface="Cairo Bold"/>
              </a:rPr>
              <a:t>Result</a:t>
            </a:r>
          </a:p>
          <a:p>
            <a:pPr algn="l" marL="530913" indent="-265456" lvl="1">
              <a:lnSpc>
                <a:spcPts val="3442"/>
              </a:lnSpc>
              <a:buFont typeface="Arial"/>
              <a:buChar char="•"/>
            </a:pPr>
            <a:r>
              <a:rPr lang="en-US" b="true" sz="2459">
                <a:solidFill>
                  <a:srgbClr val="2E2F6F"/>
                </a:solidFill>
                <a:latin typeface="Cairo Bold"/>
                <a:ea typeface="Cairo Bold"/>
                <a:cs typeface="Cairo Bold"/>
                <a:sym typeface="Cairo Bold"/>
              </a:rPr>
              <a:t>Improved brand visibility and strengthened customer trust in Sharp Shine products.</a:t>
            </a:r>
          </a:p>
        </p:txBody>
      </p:sp>
      <p:sp>
        <p:nvSpPr>
          <p:cNvPr name="Freeform 7" id="7"/>
          <p:cNvSpPr/>
          <p:nvPr/>
        </p:nvSpPr>
        <p:spPr>
          <a:xfrm flipH="false" flipV="false" rot="0">
            <a:off x="0" y="0"/>
            <a:ext cx="1971675" cy="2143125"/>
          </a:xfrm>
          <a:custGeom>
            <a:avLst/>
            <a:gdLst/>
            <a:ahLst/>
            <a:cxnLst/>
            <a:rect r="r" b="b" t="t" l="l"/>
            <a:pathLst>
              <a:path h="2143125" w="1971675">
                <a:moveTo>
                  <a:pt x="0" y="0"/>
                </a:moveTo>
                <a:lnTo>
                  <a:pt x="1971675" y="0"/>
                </a:lnTo>
                <a:lnTo>
                  <a:pt x="1971675" y="2143125"/>
                </a:lnTo>
                <a:lnTo>
                  <a:pt x="0" y="2143125"/>
                </a:lnTo>
                <a:lnTo>
                  <a:pt x="0" y="0"/>
                </a:lnTo>
                <a:close/>
              </a:path>
            </a:pathLst>
          </a:custGeom>
          <a:blipFill>
            <a:blip r:embed="rId4"/>
            <a:stretch>
              <a:fillRect l="0" t="0" r="0" b="0"/>
            </a:stretch>
          </a:blipFill>
        </p:spPr>
      </p:sp>
      <p:sp>
        <p:nvSpPr>
          <p:cNvPr name="Freeform 8" id="8"/>
          <p:cNvSpPr/>
          <p:nvPr/>
        </p:nvSpPr>
        <p:spPr>
          <a:xfrm flipH="false" flipV="false" rot="0">
            <a:off x="15887700" y="8786812"/>
            <a:ext cx="2400300" cy="1500188"/>
          </a:xfrm>
          <a:custGeom>
            <a:avLst/>
            <a:gdLst/>
            <a:ahLst/>
            <a:cxnLst/>
            <a:rect r="r" b="b" t="t" l="l"/>
            <a:pathLst>
              <a:path h="1500188" w="2400300">
                <a:moveTo>
                  <a:pt x="0" y="0"/>
                </a:moveTo>
                <a:lnTo>
                  <a:pt x="2400300" y="0"/>
                </a:lnTo>
                <a:lnTo>
                  <a:pt x="2400300" y="1500188"/>
                </a:lnTo>
                <a:lnTo>
                  <a:pt x="0" y="1500188"/>
                </a:lnTo>
                <a:lnTo>
                  <a:pt x="0" y="0"/>
                </a:lnTo>
                <a:close/>
              </a:path>
            </a:pathLst>
          </a:custGeom>
          <a:blipFill>
            <a:blip r:embed="rId5"/>
            <a:stretch>
              <a:fillRect l="0" t="0" r="0" b="0"/>
            </a:stretch>
          </a:blipFill>
        </p:spPr>
      </p:sp>
      <p:sp>
        <p:nvSpPr>
          <p:cNvPr name="Freeform 9" id="9"/>
          <p:cNvSpPr/>
          <p:nvPr/>
        </p:nvSpPr>
        <p:spPr>
          <a:xfrm flipH="false" flipV="false" rot="0">
            <a:off x="15444788" y="2357438"/>
            <a:ext cx="2843212" cy="6000750"/>
          </a:xfrm>
          <a:custGeom>
            <a:avLst/>
            <a:gdLst/>
            <a:ahLst/>
            <a:cxnLst/>
            <a:rect r="r" b="b" t="t" l="l"/>
            <a:pathLst>
              <a:path h="6000750" w="2843212">
                <a:moveTo>
                  <a:pt x="0" y="0"/>
                </a:moveTo>
                <a:lnTo>
                  <a:pt x="2843212" y="0"/>
                </a:lnTo>
                <a:lnTo>
                  <a:pt x="2843212" y="6000750"/>
                </a:lnTo>
                <a:lnTo>
                  <a:pt x="0" y="6000750"/>
                </a:lnTo>
                <a:lnTo>
                  <a:pt x="0" y="0"/>
                </a:lnTo>
                <a:close/>
              </a:path>
            </a:pathLst>
          </a:custGeom>
          <a:blipFill>
            <a:blip r:embed="rId6"/>
            <a:stretch>
              <a:fillRect l="0" t="0" r="0" b="0"/>
            </a:stretch>
          </a:blipFill>
        </p:spPr>
      </p:sp>
      <p:sp>
        <p:nvSpPr>
          <p:cNvPr name="Freeform 10" id="10"/>
          <p:cNvSpPr/>
          <p:nvPr/>
        </p:nvSpPr>
        <p:spPr>
          <a:xfrm flipH="false" flipV="false" rot="0">
            <a:off x="0" y="2357438"/>
            <a:ext cx="1971675" cy="5786438"/>
          </a:xfrm>
          <a:custGeom>
            <a:avLst/>
            <a:gdLst/>
            <a:ahLst/>
            <a:cxnLst/>
            <a:rect r="r" b="b" t="t" l="l"/>
            <a:pathLst>
              <a:path h="5786438" w="1971675">
                <a:moveTo>
                  <a:pt x="0" y="0"/>
                </a:moveTo>
                <a:lnTo>
                  <a:pt x="1971675" y="0"/>
                </a:lnTo>
                <a:lnTo>
                  <a:pt x="1971675" y="5786437"/>
                </a:lnTo>
                <a:lnTo>
                  <a:pt x="0" y="5786437"/>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096013"/>
            <a:ext cx="18288000" cy="5549807"/>
          </a:xfrm>
          <a:custGeom>
            <a:avLst/>
            <a:gdLst/>
            <a:ahLst/>
            <a:cxnLst/>
            <a:rect r="r" b="b" t="t" l="l"/>
            <a:pathLst>
              <a:path h="5549807" w="18288000">
                <a:moveTo>
                  <a:pt x="0" y="0"/>
                </a:moveTo>
                <a:lnTo>
                  <a:pt x="18288000" y="0"/>
                </a:lnTo>
                <a:lnTo>
                  <a:pt x="18288000" y="5549807"/>
                </a:lnTo>
                <a:lnTo>
                  <a:pt x="0" y="5549807"/>
                </a:lnTo>
                <a:lnTo>
                  <a:pt x="0" y="0"/>
                </a:lnTo>
                <a:close/>
              </a:path>
            </a:pathLst>
          </a:custGeom>
          <a:blipFill>
            <a:blip r:embed="rId2"/>
            <a:stretch>
              <a:fillRect l="-52" t="-3416" r="-52" b="-14364"/>
            </a:stretch>
          </a:blipFill>
        </p:spPr>
      </p:sp>
      <p:sp>
        <p:nvSpPr>
          <p:cNvPr name="TextBox 3" id="3"/>
          <p:cNvSpPr txBox="true"/>
          <p:nvPr/>
        </p:nvSpPr>
        <p:spPr>
          <a:xfrm rot="0">
            <a:off x="0" y="-27036"/>
            <a:ext cx="5499430" cy="1055736"/>
          </a:xfrm>
          <a:prstGeom prst="rect">
            <a:avLst/>
          </a:prstGeom>
        </p:spPr>
        <p:txBody>
          <a:bodyPr anchor="t" rtlCol="false" tIns="0" lIns="0" bIns="0" rIns="0">
            <a:spAutoFit/>
          </a:bodyPr>
          <a:lstStyle/>
          <a:p>
            <a:pPr algn="l">
              <a:lnSpc>
                <a:spcPts val="8604"/>
              </a:lnSpc>
            </a:pPr>
            <a:r>
              <a:rPr lang="en-US" sz="6146" b="true">
                <a:solidFill>
                  <a:srgbClr val="00004D"/>
                </a:solidFill>
                <a:latin typeface="Montserrat Bold"/>
                <a:ea typeface="Montserrat Bold"/>
                <a:cs typeface="Montserrat Bold"/>
                <a:sym typeface="Montserrat Bold"/>
              </a:rPr>
              <a:t>Media Plan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2158143"/>
          </a:xfrm>
          <a:custGeom>
            <a:avLst/>
            <a:gdLst/>
            <a:ahLst/>
            <a:cxnLst/>
            <a:rect r="r" b="b" t="t" l="l"/>
            <a:pathLst>
              <a:path h="2158143" w="18288000">
                <a:moveTo>
                  <a:pt x="0" y="0"/>
                </a:moveTo>
                <a:lnTo>
                  <a:pt x="18288000" y="0"/>
                </a:lnTo>
                <a:lnTo>
                  <a:pt x="18288000" y="2158143"/>
                </a:lnTo>
                <a:lnTo>
                  <a:pt x="0" y="2158143"/>
                </a:lnTo>
                <a:lnTo>
                  <a:pt x="0" y="0"/>
                </a:lnTo>
                <a:close/>
              </a:path>
            </a:pathLst>
          </a:custGeom>
          <a:blipFill>
            <a:blip r:embed="rId2"/>
            <a:stretch>
              <a:fillRect l="-9861" t="0" r="-9861" b="0"/>
            </a:stretch>
          </a:blipFill>
        </p:spPr>
      </p:sp>
      <p:sp>
        <p:nvSpPr>
          <p:cNvPr name="Freeform 3" id="3"/>
          <p:cNvSpPr/>
          <p:nvPr/>
        </p:nvSpPr>
        <p:spPr>
          <a:xfrm flipH="false" flipV="false" rot="0">
            <a:off x="0" y="3106261"/>
            <a:ext cx="18288000" cy="3173469"/>
          </a:xfrm>
          <a:custGeom>
            <a:avLst/>
            <a:gdLst/>
            <a:ahLst/>
            <a:cxnLst/>
            <a:rect r="r" b="b" t="t" l="l"/>
            <a:pathLst>
              <a:path h="3173469" w="18288000">
                <a:moveTo>
                  <a:pt x="0" y="0"/>
                </a:moveTo>
                <a:lnTo>
                  <a:pt x="18288000" y="0"/>
                </a:lnTo>
                <a:lnTo>
                  <a:pt x="18288000" y="3173469"/>
                </a:lnTo>
                <a:lnTo>
                  <a:pt x="0" y="3173469"/>
                </a:lnTo>
                <a:lnTo>
                  <a:pt x="0" y="0"/>
                </a:lnTo>
                <a:close/>
              </a:path>
            </a:pathLst>
          </a:custGeom>
          <a:blipFill>
            <a:blip r:embed="rId3"/>
            <a:stretch>
              <a:fillRect l="-10674" t="-3608" r="0" b="-3608"/>
            </a:stretch>
          </a:blipFill>
        </p:spPr>
      </p:sp>
      <p:sp>
        <p:nvSpPr>
          <p:cNvPr name="Freeform 4" id="4"/>
          <p:cNvSpPr/>
          <p:nvPr/>
        </p:nvSpPr>
        <p:spPr>
          <a:xfrm flipH="false" flipV="false" rot="0">
            <a:off x="-189623" y="6914390"/>
            <a:ext cx="18477623" cy="2865375"/>
          </a:xfrm>
          <a:custGeom>
            <a:avLst/>
            <a:gdLst/>
            <a:ahLst/>
            <a:cxnLst/>
            <a:rect r="r" b="b" t="t" l="l"/>
            <a:pathLst>
              <a:path h="2865375" w="18477623">
                <a:moveTo>
                  <a:pt x="0" y="0"/>
                </a:moveTo>
                <a:lnTo>
                  <a:pt x="18477623" y="0"/>
                </a:lnTo>
                <a:lnTo>
                  <a:pt x="18477623" y="2865375"/>
                </a:lnTo>
                <a:lnTo>
                  <a:pt x="0" y="2865375"/>
                </a:lnTo>
                <a:lnTo>
                  <a:pt x="0" y="0"/>
                </a:lnTo>
                <a:close/>
              </a:path>
            </a:pathLst>
          </a:custGeom>
          <a:blipFill>
            <a:blip r:embed="rId4"/>
            <a:stretch>
              <a:fillRect l="0" t="-2895" r="0" b="-5822"/>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074638" y="5712370"/>
            <a:ext cx="3292190" cy="737509"/>
          </a:xfrm>
          <a:custGeom>
            <a:avLst/>
            <a:gdLst/>
            <a:ahLst/>
            <a:cxnLst/>
            <a:rect r="r" b="b" t="t" l="l"/>
            <a:pathLst>
              <a:path h="737509" w="3292190">
                <a:moveTo>
                  <a:pt x="0" y="0"/>
                </a:moveTo>
                <a:lnTo>
                  <a:pt x="3292190" y="0"/>
                </a:lnTo>
                <a:lnTo>
                  <a:pt x="3292190" y="737509"/>
                </a:lnTo>
                <a:lnTo>
                  <a:pt x="0" y="737509"/>
                </a:lnTo>
                <a:lnTo>
                  <a:pt x="0" y="0"/>
                </a:lnTo>
                <a:close/>
              </a:path>
            </a:pathLst>
          </a:custGeom>
          <a:blipFill>
            <a:blip r:embed="rId3"/>
            <a:stretch>
              <a:fillRect l="0" t="-90971" r="0" b="-5441"/>
            </a:stretch>
          </a:blipFill>
        </p:spPr>
      </p:sp>
      <p:sp>
        <p:nvSpPr>
          <p:cNvPr name="Freeform 4" id="4"/>
          <p:cNvSpPr/>
          <p:nvPr/>
        </p:nvSpPr>
        <p:spPr>
          <a:xfrm flipH="false" flipV="false" rot="0">
            <a:off x="5769707" y="5712370"/>
            <a:ext cx="1676157" cy="737509"/>
          </a:xfrm>
          <a:custGeom>
            <a:avLst/>
            <a:gdLst/>
            <a:ahLst/>
            <a:cxnLst/>
            <a:rect r="r" b="b" t="t" l="l"/>
            <a:pathLst>
              <a:path h="737509" w="1676157">
                <a:moveTo>
                  <a:pt x="0" y="0"/>
                </a:moveTo>
                <a:lnTo>
                  <a:pt x="1676157" y="0"/>
                </a:lnTo>
                <a:lnTo>
                  <a:pt x="1676157" y="737509"/>
                </a:lnTo>
                <a:lnTo>
                  <a:pt x="0" y="737509"/>
                </a:lnTo>
                <a:lnTo>
                  <a:pt x="0" y="0"/>
                </a:lnTo>
                <a:close/>
              </a:path>
            </a:pathLst>
          </a:custGeom>
          <a:blipFill>
            <a:blip r:embed="rId3"/>
            <a:stretch>
              <a:fillRect l="0" t="0" r="0" b="0"/>
            </a:stretch>
          </a:blipFill>
        </p:spPr>
      </p:sp>
      <p:sp>
        <p:nvSpPr>
          <p:cNvPr name="Freeform 5" id="5"/>
          <p:cNvSpPr/>
          <p:nvPr/>
        </p:nvSpPr>
        <p:spPr>
          <a:xfrm flipH="false" flipV="false" rot="0">
            <a:off x="1626301" y="422190"/>
            <a:ext cx="14371716" cy="5085314"/>
          </a:xfrm>
          <a:custGeom>
            <a:avLst/>
            <a:gdLst/>
            <a:ahLst/>
            <a:cxnLst/>
            <a:rect r="r" b="b" t="t" l="l"/>
            <a:pathLst>
              <a:path h="5085314" w="14371716">
                <a:moveTo>
                  <a:pt x="0" y="0"/>
                </a:moveTo>
                <a:lnTo>
                  <a:pt x="14371716" y="0"/>
                </a:lnTo>
                <a:lnTo>
                  <a:pt x="14371716" y="5085314"/>
                </a:lnTo>
                <a:lnTo>
                  <a:pt x="0" y="5085314"/>
                </a:lnTo>
                <a:lnTo>
                  <a:pt x="0" y="0"/>
                </a:lnTo>
                <a:close/>
              </a:path>
            </a:pathLst>
          </a:custGeom>
          <a:blipFill>
            <a:blip r:embed="rId3"/>
            <a:stretch>
              <a:fillRect l="0" t="-288" r="0" b="-24060"/>
            </a:stretch>
          </a:blipFill>
        </p:spPr>
      </p:sp>
      <p:sp>
        <p:nvSpPr>
          <p:cNvPr name="Freeform 6" id="6"/>
          <p:cNvSpPr/>
          <p:nvPr/>
        </p:nvSpPr>
        <p:spPr>
          <a:xfrm flipH="false" flipV="false" rot="0">
            <a:off x="9144000" y="2224996"/>
            <a:ext cx="1676157" cy="737509"/>
          </a:xfrm>
          <a:custGeom>
            <a:avLst/>
            <a:gdLst/>
            <a:ahLst/>
            <a:cxnLst/>
            <a:rect r="r" b="b" t="t" l="l"/>
            <a:pathLst>
              <a:path h="737509" w="1676157">
                <a:moveTo>
                  <a:pt x="0" y="0"/>
                </a:moveTo>
                <a:lnTo>
                  <a:pt x="1676157" y="0"/>
                </a:lnTo>
                <a:lnTo>
                  <a:pt x="1676157" y="737509"/>
                </a:lnTo>
                <a:lnTo>
                  <a:pt x="0" y="737509"/>
                </a:lnTo>
                <a:lnTo>
                  <a:pt x="0" y="0"/>
                </a:lnTo>
                <a:close/>
              </a:path>
            </a:pathLst>
          </a:custGeom>
          <a:blipFill>
            <a:blip r:embed="rId3"/>
            <a:stretch>
              <a:fillRect l="0" t="0" r="0" b="0"/>
            </a:stretch>
          </a:blipFill>
        </p:spPr>
      </p:sp>
      <p:sp>
        <p:nvSpPr>
          <p:cNvPr name="TextBox 7" id="7"/>
          <p:cNvSpPr txBox="true"/>
          <p:nvPr/>
        </p:nvSpPr>
        <p:spPr>
          <a:xfrm rot="0">
            <a:off x="2976193" y="5421779"/>
            <a:ext cx="242768"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FFFFFF"/>
                </a:solidFill>
                <a:latin typeface="Montserrat Bold"/>
                <a:ea typeface="Montserrat Bold"/>
                <a:cs typeface="Montserrat Bold"/>
                <a:sym typeface="Montserrat Bold"/>
              </a:rPr>
              <a:t>\</a:t>
            </a:r>
          </a:p>
        </p:txBody>
      </p:sp>
      <p:sp>
        <p:nvSpPr>
          <p:cNvPr name="TextBox 8" id="8"/>
          <p:cNvSpPr txBox="true"/>
          <p:nvPr/>
        </p:nvSpPr>
        <p:spPr>
          <a:xfrm rot="0">
            <a:off x="2299023" y="5626645"/>
            <a:ext cx="1155353" cy="823234"/>
          </a:xfrm>
          <a:prstGeom prst="rect">
            <a:avLst/>
          </a:prstGeom>
        </p:spPr>
        <p:txBody>
          <a:bodyPr anchor="t" rtlCol="false" tIns="0" lIns="0" bIns="0" rIns="0">
            <a:spAutoFit/>
          </a:bodyPr>
          <a:lstStyle/>
          <a:p>
            <a:pPr algn="ctr">
              <a:lnSpc>
                <a:spcPts val="6825"/>
              </a:lnSpc>
              <a:spcBef>
                <a:spcPct val="0"/>
              </a:spcBef>
            </a:pPr>
            <a:r>
              <a:rPr lang="en-US" b="true" sz="4875">
                <a:solidFill>
                  <a:srgbClr val="00004D"/>
                </a:solidFill>
                <a:latin typeface="Montserrat Bold"/>
                <a:ea typeface="Montserrat Bold"/>
                <a:cs typeface="Montserrat Bold"/>
                <a:sym typeface="Montserrat Bold"/>
              </a:rPr>
              <a:t>343</a:t>
            </a:r>
          </a:p>
        </p:txBody>
      </p:sp>
      <p:sp>
        <p:nvSpPr>
          <p:cNvPr name="TextBox 9" id="9"/>
          <p:cNvSpPr txBox="true"/>
          <p:nvPr/>
        </p:nvSpPr>
        <p:spPr>
          <a:xfrm rot="0">
            <a:off x="6023593" y="5626645"/>
            <a:ext cx="1168387" cy="823234"/>
          </a:xfrm>
          <a:prstGeom prst="rect">
            <a:avLst/>
          </a:prstGeom>
        </p:spPr>
        <p:txBody>
          <a:bodyPr anchor="t" rtlCol="false" tIns="0" lIns="0" bIns="0" rIns="0">
            <a:spAutoFit/>
          </a:bodyPr>
          <a:lstStyle/>
          <a:p>
            <a:pPr algn="ctr">
              <a:lnSpc>
                <a:spcPts val="6825"/>
              </a:lnSpc>
              <a:spcBef>
                <a:spcPct val="0"/>
              </a:spcBef>
            </a:pPr>
            <a:r>
              <a:rPr lang="en-US" b="true" sz="4875">
                <a:solidFill>
                  <a:srgbClr val="00004D"/>
                </a:solidFill>
                <a:latin typeface="Montserrat Bold"/>
                <a:ea typeface="Montserrat Bold"/>
                <a:cs typeface="Montserrat Bold"/>
                <a:sym typeface="Montserrat Bold"/>
              </a:rPr>
              <a:t>286</a:t>
            </a:r>
          </a:p>
        </p:txBody>
      </p:sp>
      <p:sp>
        <p:nvSpPr>
          <p:cNvPr name="TextBox 10" id="10"/>
          <p:cNvSpPr txBox="true"/>
          <p:nvPr/>
        </p:nvSpPr>
        <p:spPr>
          <a:xfrm rot="0">
            <a:off x="4758269" y="1699735"/>
            <a:ext cx="8155186"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91CA3D"/>
                </a:solidFill>
                <a:latin typeface="Montserrat Bold"/>
                <a:ea typeface="Montserrat Bold"/>
                <a:cs typeface="Montserrat Bold"/>
                <a:sym typeface="Montserrat Bold"/>
              </a:rPr>
              <a:t>Meta Advertising Results</a:t>
            </a:r>
          </a:p>
        </p:txBody>
      </p:sp>
      <p:sp>
        <p:nvSpPr>
          <p:cNvPr name="TextBox 11" id="11"/>
          <p:cNvSpPr txBox="true"/>
          <p:nvPr/>
        </p:nvSpPr>
        <p:spPr>
          <a:xfrm rot="0">
            <a:off x="1964080" y="2876780"/>
            <a:ext cx="4602004"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000000"/>
                </a:solidFill>
                <a:latin typeface="Montserrat Bold"/>
                <a:ea typeface="Montserrat Bold"/>
                <a:cs typeface="Montserrat Bold"/>
                <a:sym typeface="Montserrat Bold"/>
              </a:rPr>
              <a:t>Budget spent:</a:t>
            </a:r>
          </a:p>
        </p:txBody>
      </p:sp>
      <p:sp>
        <p:nvSpPr>
          <p:cNvPr name="TextBox 12" id="12"/>
          <p:cNvSpPr txBox="true"/>
          <p:nvPr/>
        </p:nvSpPr>
        <p:spPr>
          <a:xfrm rot="0">
            <a:off x="495064" y="3560757"/>
            <a:ext cx="4744221"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000000"/>
                </a:solidFill>
                <a:latin typeface="Montserrat Bold"/>
                <a:ea typeface="Montserrat Bold"/>
                <a:cs typeface="Montserrat Bold"/>
                <a:sym typeface="Montserrat Bold"/>
              </a:rPr>
              <a:t>Sales:</a:t>
            </a:r>
          </a:p>
        </p:txBody>
      </p:sp>
      <p:sp>
        <p:nvSpPr>
          <p:cNvPr name="TextBox 13" id="13"/>
          <p:cNvSpPr txBox="true"/>
          <p:nvPr/>
        </p:nvSpPr>
        <p:spPr>
          <a:xfrm rot="0">
            <a:off x="6566083" y="2907673"/>
            <a:ext cx="2941874" cy="797772"/>
          </a:xfrm>
          <a:prstGeom prst="rect">
            <a:avLst/>
          </a:prstGeom>
        </p:spPr>
        <p:txBody>
          <a:bodyPr anchor="t" rtlCol="false" tIns="0" lIns="0" bIns="0" rIns="0">
            <a:spAutoFit/>
          </a:bodyPr>
          <a:lstStyle/>
          <a:p>
            <a:pPr algn="ctr">
              <a:lnSpc>
                <a:spcPts val="6541"/>
              </a:lnSpc>
              <a:spcBef>
                <a:spcPct val="0"/>
              </a:spcBef>
            </a:pPr>
            <a:r>
              <a:rPr lang="en-US" b="true" sz="4672">
                <a:solidFill>
                  <a:srgbClr val="000000"/>
                </a:solidFill>
                <a:latin typeface="Montserrat Bold"/>
                <a:ea typeface="Montserrat Bold"/>
                <a:cs typeface="Montserrat Bold"/>
                <a:sym typeface="Montserrat Bold"/>
              </a:rPr>
              <a:t>3777</a:t>
            </a:r>
          </a:p>
        </p:txBody>
      </p:sp>
      <p:sp>
        <p:nvSpPr>
          <p:cNvPr name="TextBox 14" id="14"/>
          <p:cNvSpPr txBox="true"/>
          <p:nvPr/>
        </p:nvSpPr>
        <p:spPr>
          <a:xfrm rot="0">
            <a:off x="4006166" y="3663190"/>
            <a:ext cx="2941874"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000000"/>
                </a:solidFill>
                <a:latin typeface="Montserrat Bold"/>
                <a:ea typeface="Montserrat Bold"/>
                <a:cs typeface="Montserrat Bold"/>
                <a:sym typeface="Montserrat Bold"/>
              </a:rPr>
              <a:t>14503</a:t>
            </a:r>
          </a:p>
        </p:txBody>
      </p:sp>
      <p:sp>
        <p:nvSpPr>
          <p:cNvPr name="TextBox 15" id="15"/>
          <p:cNvSpPr txBox="true"/>
          <p:nvPr/>
        </p:nvSpPr>
        <p:spPr>
          <a:xfrm rot="0">
            <a:off x="1702501" y="4275376"/>
            <a:ext cx="8469342" cy="753100"/>
          </a:xfrm>
          <a:prstGeom prst="rect">
            <a:avLst/>
          </a:prstGeom>
        </p:spPr>
        <p:txBody>
          <a:bodyPr anchor="t" rtlCol="false" tIns="0" lIns="0" bIns="0" rIns="0">
            <a:spAutoFit/>
          </a:bodyPr>
          <a:lstStyle/>
          <a:p>
            <a:pPr algn="ctr">
              <a:lnSpc>
                <a:spcPts val="6265"/>
              </a:lnSpc>
              <a:spcBef>
                <a:spcPct val="0"/>
              </a:spcBef>
            </a:pPr>
            <a:r>
              <a:rPr lang="en-US" b="true" sz="4475">
                <a:solidFill>
                  <a:srgbClr val="000000"/>
                </a:solidFill>
                <a:latin typeface="Montserrat Bold"/>
                <a:ea typeface="Montserrat Bold"/>
                <a:cs typeface="Montserrat Bold"/>
                <a:sym typeface="Montserrat Bold"/>
              </a:rPr>
              <a:t>Average Cost per message:</a:t>
            </a:r>
          </a:p>
        </p:txBody>
      </p:sp>
      <p:sp>
        <p:nvSpPr>
          <p:cNvPr name="TextBox 16" id="16"/>
          <p:cNvSpPr txBox="true"/>
          <p:nvPr/>
        </p:nvSpPr>
        <p:spPr>
          <a:xfrm rot="0">
            <a:off x="9349220" y="4199811"/>
            <a:ext cx="2941874"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000000"/>
                </a:solidFill>
                <a:latin typeface="Montserrat Bold"/>
                <a:ea typeface="Montserrat Bold"/>
                <a:cs typeface="Montserrat Bold"/>
                <a:sym typeface="Montserrat Bold"/>
              </a:rPr>
              <a:t>11.01</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54" r="0" b="-15918"/>
            </a:stretch>
          </a:blipFill>
        </p:spPr>
      </p:sp>
      <p:sp>
        <p:nvSpPr>
          <p:cNvPr name="Freeform 3" id="3"/>
          <p:cNvSpPr/>
          <p:nvPr/>
        </p:nvSpPr>
        <p:spPr>
          <a:xfrm flipH="false" flipV="false" rot="0">
            <a:off x="1198398" y="76200"/>
            <a:ext cx="9910771" cy="770245"/>
          </a:xfrm>
          <a:custGeom>
            <a:avLst/>
            <a:gdLst/>
            <a:ahLst/>
            <a:cxnLst/>
            <a:rect r="r" b="b" t="t" l="l"/>
            <a:pathLst>
              <a:path h="770245" w="9910771">
                <a:moveTo>
                  <a:pt x="0" y="0"/>
                </a:moveTo>
                <a:lnTo>
                  <a:pt x="9910771" y="0"/>
                </a:lnTo>
                <a:lnTo>
                  <a:pt x="9910771" y="770245"/>
                </a:lnTo>
                <a:lnTo>
                  <a:pt x="0" y="770245"/>
                </a:lnTo>
                <a:lnTo>
                  <a:pt x="0" y="0"/>
                </a:lnTo>
                <a:close/>
              </a:path>
            </a:pathLst>
          </a:custGeom>
          <a:blipFill>
            <a:blip r:embed="rId3"/>
            <a:stretch>
              <a:fillRect l="-39183" t="0" r="-40618" b="-917948"/>
            </a:stretch>
          </a:blipFill>
        </p:spPr>
      </p:sp>
      <p:sp>
        <p:nvSpPr>
          <p:cNvPr name="TextBox 4" id="4"/>
          <p:cNvSpPr txBox="true"/>
          <p:nvPr/>
        </p:nvSpPr>
        <p:spPr>
          <a:xfrm rot="0">
            <a:off x="1198398" y="17780"/>
            <a:ext cx="8433197" cy="828665"/>
          </a:xfrm>
          <a:prstGeom prst="rect">
            <a:avLst/>
          </a:prstGeom>
        </p:spPr>
        <p:txBody>
          <a:bodyPr anchor="t" rtlCol="false" tIns="0" lIns="0" bIns="0" rIns="0">
            <a:spAutoFit/>
          </a:bodyPr>
          <a:lstStyle/>
          <a:p>
            <a:pPr algn="ctr">
              <a:lnSpc>
                <a:spcPts val="6825"/>
              </a:lnSpc>
              <a:spcBef>
                <a:spcPct val="0"/>
              </a:spcBef>
            </a:pPr>
            <a:r>
              <a:rPr lang="en-US" b="true" sz="4875">
                <a:solidFill>
                  <a:srgbClr val="91CA3D"/>
                </a:solidFill>
                <a:latin typeface="Montserrat Bold"/>
                <a:ea typeface="Montserrat Bold"/>
                <a:cs typeface="Montserrat Bold"/>
                <a:sym typeface="Montserrat Bold"/>
              </a:rPr>
              <a:t>Page performance Report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72"/>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20504" y="400050"/>
            <a:ext cx="3048000" cy="1257300"/>
          </a:xfrm>
          <a:custGeom>
            <a:avLst/>
            <a:gdLst/>
            <a:ahLst/>
            <a:cxnLst/>
            <a:rect r="r" b="b" t="t" l="l"/>
            <a:pathLst>
              <a:path h="1257300" w="3048000">
                <a:moveTo>
                  <a:pt x="0" y="0"/>
                </a:moveTo>
                <a:lnTo>
                  <a:pt x="3048000" y="0"/>
                </a:lnTo>
                <a:lnTo>
                  <a:pt x="3048000" y="1257300"/>
                </a:lnTo>
                <a:lnTo>
                  <a:pt x="0" y="1257300"/>
                </a:lnTo>
                <a:lnTo>
                  <a:pt x="0" y="0"/>
                </a:lnTo>
                <a:close/>
              </a:path>
            </a:pathLst>
          </a:custGeom>
          <a:blipFill>
            <a:blip r:embed="rId2"/>
            <a:stretch>
              <a:fillRect l="0" t="0" r="0" b="0"/>
            </a:stretch>
          </a:blipFill>
        </p:spPr>
      </p:sp>
      <p:sp>
        <p:nvSpPr>
          <p:cNvPr name="Freeform 3" id="3"/>
          <p:cNvSpPr/>
          <p:nvPr/>
        </p:nvSpPr>
        <p:spPr>
          <a:xfrm flipH="false" flipV="false" rot="0">
            <a:off x="9350379" y="9182100"/>
            <a:ext cx="2590800" cy="1104900"/>
          </a:xfrm>
          <a:custGeom>
            <a:avLst/>
            <a:gdLst/>
            <a:ahLst/>
            <a:cxnLst/>
            <a:rect r="r" b="b" t="t" l="l"/>
            <a:pathLst>
              <a:path h="1104900" w="2590800">
                <a:moveTo>
                  <a:pt x="0" y="0"/>
                </a:moveTo>
                <a:lnTo>
                  <a:pt x="2590800" y="0"/>
                </a:lnTo>
                <a:lnTo>
                  <a:pt x="2590800" y="1104900"/>
                </a:lnTo>
                <a:lnTo>
                  <a:pt x="0" y="1104900"/>
                </a:lnTo>
                <a:lnTo>
                  <a:pt x="0" y="0"/>
                </a:lnTo>
                <a:close/>
              </a:path>
            </a:pathLst>
          </a:custGeom>
          <a:blipFill>
            <a:blip r:embed="rId3"/>
            <a:stretch>
              <a:fillRect l="0" t="0" r="0" b="0"/>
            </a:stretch>
          </a:blipFill>
        </p:spPr>
      </p:sp>
      <p:sp>
        <p:nvSpPr>
          <p:cNvPr name="Freeform 4" id="4"/>
          <p:cNvSpPr/>
          <p:nvPr/>
        </p:nvSpPr>
        <p:spPr>
          <a:xfrm flipH="false" flipV="false" rot="0">
            <a:off x="16554100" y="3278236"/>
            <a:ext cx="1895475" cy="4000500"/>
          </a:xfrm>
          <a:custGeom>
            <a:avLst/>
            <a:gdLst/>
            <a:ahLst/>
            <a:cxnLst/>
            <a:rect r="r" b="b" t="t" l="l"/>
            <a:pathLst>
              <a:path h="4000500" w="1895475">
                <a:moveTo>
                  <a:pt x="0" y="0"/>
                </a:moveTo>
                <a:lnTo>
                  <a:pt x="1895475" y="0"/>
                </a:lnTo>
                <a:lnTo>
                  <a:pt x="1895475" y="4000500"/>
                </a:lnTo>
                <a:lnTo>
                  <a:pt x="0" y="4000500"/>
                </a:lnTo>
                <a:lnTo>
                  <a:pt x="0" y="0"/>
                </a:lnTo>
                <a:close/>
              </a:path>
            </a:pathLst>
          </a:custGeom>
          <a:blipFill>
            <a:blip r:embed="rId4"/>
            <a:stretch>
              <a:fillRect l="0" t="0" r="0" b="0"/>
            </a:stretch>
          </a:blipFill>
        </p:spPr>
      </p:sp>
      <p:sp>
        <p:nvSpPr>
          <p:cNvPr name="Freeform 5" id="5"/>
          <p:cNvSpPr/>
          <p:nvPr/>
        </p:nvSpPr>
        <p:spPr>
          <a:xfrm flipH="false" flipV="false" rot="0">
            <a:off x="0" y="0"/>
            <a:ext cx="1152939" cy="1657350"/>
          </a:xfrm>
          <a:custGeom>
            <a:avLst/>
            <a:gdLst/>
            <a:ahLst/>
            <a:cxnLst/>
            <a:rect r="r" b="b" t="t" l="l"/>
            <a:pathLst>
              <a:path h="1657350" w="1152939">
                <a:moveTo>
                  <a:pt x="0" y="0"/>
                </a:moveTo>
                <a:lnTo>
                  <a:pt x="1152939" y="0"/>
                </a:lnTo>
                <a:lnTo>
                  <a:pt x="1152939" y="1657350"/>
                </a:lnTo>
                <a:lnTo>
                  <a:pt x="0" y="1657350"/>
                </a:lnTo>
                <a:lnTo>
                  <a:pt x="0" y="0"/>
                </a:lnTo>
                <a:close/>
              </a:path>
            </a:pathLst>
          </a:custGeom>
          <a:blipFill>
            <a:blip r:embed="rId5"/>
            <a:stretch>
              <a:fillRect l="0" t="0" r="0" b="0"/>
            </a:stretch>
          </a:blipFill>
        </p:spPr>
      </p:sp>
      <p:sp>
        <p:nvSpPr>
          <p:cNvPr name="Freeform 6" id="6"/>
          <p:cNvSpPr/>
          <p:nvPr/>
        </p:nvSpPr>
        <p:spPr>
          <a:xfrm flipH="false" flipV="false" rot="0">
            <a:off x="0" y="1925584"/>
            <a:ext cx="12736389" cy="8199050"/>
          </a:xfrm>
          <a:custGeom>
            <a:avLst/>
            <a:gdLst/>
            <a:ahLst/>
            <a:cxnLst/>
            <a:rect r="r" b="b" t="t" l="l"/>
            <a:pathLst>
              <a:path h="8199050" w="12736389">
                <a:moveTo>
                  <a:pt x="0" y="0"/>
                </a:moveTo>
                <a:lnTo>
                  <a:pt x="12736389" y="0"/>
                </a:lnTo>
                <a:lnTo>
                  <a:pt x="12736389" y="8199050"/>
                </a:lnTo>
                <a:lnTo>
                  <a:pt x="0" y="8199050"/>
                </a:lnTo>
                <a:lnTo>
                  <a:pt x="0" y="0"/>
                </a:lnTo>
                <a:close/>
              </a:path>
            </a:pathLst>
          </a:custGeom>
          <a:blipFill>
            <a:blip r:embed="rId6">
              <a:alphaModFix amt="25000"/>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28700" y="2210894"/>
            <a:ext cx="11510532" cy="7820705"/>
          </a:xfrm>
          <a:prstGeom prst="rect">
            <a:avLst/>
          </a:prstGeom>
        </p:spPr>
        <p:txBody>
          <a:bodyPr anchor="t" rtlCol="false" tIns="0" lIns="0" bIns="0" rIns="0">
            <a:spAutoFit/>
          </a:bodyPr>
          <a:lstStyle/>
          <a:p>
            <a:pPr algn="ctr" rtl="true">
              <a:lnSpc>
                <a:spcPts val="3112"/>
              </a:lnSpc>
            </a:pPr>
            <a:r>
              <a:rPr lang="ar-EG" b="true" sz="2223" spc="-111">
                <a:solidFill>
                  <a:srgbClr val="00004D"/>
                </a:solidFill>
                <a:latin typeface="Cairo Bold"/>
                <a:ea typeface="Cairo Bold"/>
                <a:cs typeface="Cairo Bold"/>
                <a:sym typeface="Cairo Bold"/>
                <a:rtl val="true"/>
              </a:rPr>
              <a:t>مساء الخير يا شباب،</a:t>
            </a:r>
          </a:p>
          <a:p>
            <a:pPr algn="ctr">
              <a:lnSpc>
                <a:spcPts val="3252"/>
              </a:lnSpc>
              <a:spcBef>
                <a:spcPct val="0"/>
              </a:spcBef>
            </a:pPr>
            <a:r>
              <a:rPr lang="en-US" b="true" sz="2323" spc="-116">
                <a:solidFill>
                  <a:srgbClr val="00004D"/>
                </a:solidFill>
                <a:latin typeface="Cairo Bold"/>
                <a:ea typeface="Cairo Bold"/>
                <a:cs typeface="Cairo Bold"/>
                <a:sym typeface="Cairo Bold"/>
              </a:rPr>
              <a:t>INTERNSHIP</a:t>
            </a:r>
            <a:r>
              <a:rPr lang="ar-EG" b="true" sz="2323" spc="-116">
                <a:solidFill>
                  <a:srgbClr val="00004D"/>
                </a:solidFill>
                <a:latin typeface="Cairo Bold"/>
                <a:ea typeface="Cairo Bold"/>
                <a:cs typeface="Cairo Bold"/>
                <a:sym typeface="Cairo Bold"/>
                <a:rtl val="true"/>
              </a:rPr>
              <a:t>حابب أشكركم جميعا على المجهود الكبير اللي قدمتوه معانا خلال فترة</a:t>
            </a:r>
            <a:r>
              <a:rPr lang="ar-EG" b="true" sz="2323" spc="-116">
                <a:solidFill>
                  <a:srgbClr val="00004D"/>
                </a:solidFill>
                <a:latin typeface="Cairo Bold"/>
                <a:ea typeface="Cairo Bold"/>
                <a:cs typeface="Cairo Bold"/>
                <a:sym typeface="Cairo Bold"/>
                <a:rtl val="true"/>
              </a:rPr>
              <a:t> ال</a:t>
            </a:r>
            <a:r>
              <a:rPr lang="en-US" b="true" sz="2323" spc="-116">
                <a:solidFill>
                  <a:srgbClr val="00004D"/>
                </a:solidFill>
                <a:latin typeface="Cairo Bold"/>
                <a:ea typeface="Cairo Bold"/>
                <a:cs typeface="Cairo Bold"/>
                <a:sym typeface="Cairo Bold"/>
              </a:rPr>
              <a:t> </a:t>
            </a:r>
          </a:p>
          <a:p>
            <a:pPr algn="ctr">
              <a:lnSpc>
                <a:spcPts val="3112"/>
              </a:lnSpc>
              <a:spcBef>
                <a:spcPct val="0"/>
              </a:spcBef>
            </a:pPr>
            <a:r>
              <a:rPr lang="en-US" b="true" sz="2223" spc="-111">
                <a:solidFill>
                  <a:srgbClr val="00004D"/>
                </a:solidFill>
                <a:latin typeface="Cairo Bold"/>
                <a:ea typeface="Cairo Bold"/>
                <a:cs typeface="Cairo Bold"/>
                <a:sym typeface="Cairo Bold"/>
              </a:rPr>
              <a:t> </a:t>
            </a:r>
            <a:r>
              <a:rPr lang="ar-EG" b="true" sz="2223" spc="-111">
                <a:solidFill>
                  <a:srgbClr val="00004D"/>
                </a:solidFill>
                <a:latin typeface="Cairo Bold"/>
                <a:ea typeface="Cairo Bold"/>
                <a:cs typeface="Cairo Bold"/>
                <a:sym typeface="Cairo Bold"/>
                <a:rtl val="true"/>
              </a:rPr>
              <a:t>في شركة الوكيل</a:t>
            </a:r>
          </a:p>
          <a:p>
            <a:pPr algn="ctr">
              <a:lnSpc>
                <a:spcPts val="3112"/>
              </a:lnSpc>
              <a:spcBef>
                <a:spcPct val="0"/>
              </a:spcBef>
            </a:pPr>
            <a:r>
              <a:rPr lang="ar-EG" b="true" sz="2223" spc="-111">
                <a:solidFill>
                  <a:srgbClr val="00004D"/>
                </a:solidFill>
                <a:latin typeface="Cairo Bold"/>
                <a:ea typeface="Cairo Bold"/>
                <a:cs typeface="Cairo Bold"/>
                <a:sym typeface="Cairo Bold"/>
                <a:rtl val="true"/>
              </a:rPr>
              <a:t>بصراحة، أنتم كنتوا إضافة حقيقية للفريق، والشغل اللي اتعمل في الحملات الإعلانية كان مميز جدا، والأفكار اللي كنتوا بتقدموها لاستقطاب العملاء كانت على مستوى عالي جدا على سنكم</a:t>
            </a:r>
            <a:r>
              <a:rPr lang="en-US" b="true" sz="2223" spc="-111">
                <a:solidFill>
                  <a:srgbClr val="00004D"/>
                </a:solidFill>
                <a:latin typeface="Cairo Bold"/>
                <a:ea typeface="Cairo Bold"/>
                <a:cs typeface="Cairo Bold"/>
                <a:sym typeface="Cairo Bold"/>
              </a:rPr>
              <a:t>    INTERNS </a:t>
            </a:r>
            <a:r>
              <a:rPr lang="ar-EG" b="true" sz="2223" spc="-111">
                <a:solidFill>
                  <a:srgbClr val="00004D"/>
                </a:solidFill>
                <a:latin typeface="Cairo Bold"/>
                <a:ea typeface="Cairo Bold"/>
                <a:cs typeface="Cairo Bold"/>
                <a:sym typeface="Cairo Bold"/>
                <a:rtl val="true"/>
              </a:rPr>
              <a:t>مش</a:t>
            </a:r>
            <a:r>
              <a:rPr lang="en-US" b="true" sz="2223" spc="-111">
                <a:solidFill>
                  <a:srgbClr val="00004D"/>
                </a:solidFill>
                <a:latin typeface="Cairo Bold"/>
                <a:ea typeface="Cairo Bold"/>
                <a:cs typeface="Cairo Bold"/>
                <a:sym typeface="Cairo Bold"/>
              </a:rPr>
              <a:t>  MARKETING SENIORS  </a:t>
            </a:r>
            <a:r>
              <a:rPr lang="ar-EG" b="true" sz="2223" spc="-111">
                <a:solidFill>
                  <a:srgbClr val="00004D"/>
                </a:solidFill>
                <a:latin typeface="Cairo Bold"/>
                <a:ea typeface="Cairo Bold"/>
                <a:cs typeface="Cairo Bold"/>
                <a:sym typeface="Cairo Bold"/>
                <a:rtl val="true"/>
              </a:rPr>
              <a:t>وخبرتكم، لدرجة إنها كانت بتخلينا نحس إننا بنتعامل مع</a:t>
            </a:r>
          </a:p>
          <a:p>
            <a:pPr algn="ctr">
              <a:lnSpc>
                <a:spcPts val="3112"/>
              </a:lnSpc>
              <a:spcBef>
                <a:spcPct val="0"/>
              </a:spcBef>
            </a:pPr>
          </a:p>
          <a:p>
            <a:pPr algn="ctr">
              <a:lnSpc>
                <a:spcPts val="3112"/>
              </a:lnSpc>
              <a:spcBef>
                <a:spcPct val="0"/>
              </a:spcBef>
            </a:pPr>
            <a:r>
              <a:rPr lang="ar-EG" b="true" sz="2223" spc="-111">
                <a:solidFill>
                  <a:srgbClr val="00004D"/>
                </a:solidFill>
                <a:latin typeface="Cairo Bold"/>
                <a:ea typeface="Cairo Bold"/>
                <a:cs typeface="Cairo Bold"/>
                <a:sym typeface="Cairo Bold"/>
                <a:rtl val="true"/>
              </a:rPr>
              <a:t>التزامكم، وحماسكم، ورغبتكم في التعلم والتطوير كانوا واضحين في كل حاجة عملتوها، وده كان له أثر إيجابي كبير علينا وعلى نتائج الشغل</a:t>
            </a:r>
            <a:r>
              <a:rPr lang="en-US" b="true" sz="2223" spc="-111">
                <a:solidFill>
                  <a:srgbClr val="00004D"/>
                </a:solidFill>
                <a:latin typeface="Cairo Bold"/>
                <a:ea typeface="Cairo Bold"/>
                <a:cs typeface="Cairo Bold"/>
                <a:sym typeface="Cairo Bold"/>
              </a:rPr>
              <a:t>.</a:t>
            </a:r>
          </a:p>
          <a:p>
            <a:pPr algn="ctr">
              <a:lnSpc>
                <a:spcPts val="3112"/>
              </a:lnSpc>
              <a:spcBef>
                <a:spcPct val="0"/>
              </a:spcBef>
            </a:pPr>
            <a:r>
              <a:rPr lang="ar-EG" b="true" sz="2223" spc="-111">
                <a:solidFill>
                  <a:srgbClr val="00004D"/>
                </a:solidFill>
                <a:latin typeface="Cairo Bold"/>
                <a:ea typeface="Cairo Bold"/>
                <a:cs typeface="Cairo Bold"/>
                <a:sym typeface="Cairo Bold"/>
                <a:rtl val="true"/>
              </a:rPr>
              <a:t>حقيقي، إحنا استفدنا من وجودكم معانا، وكان ليكم دور مهم في تطوير أفكارنا وتنفيذ حملات حققت نتائج كويسة حتى وان لم يتم استغلالها بشكل كبير من ناحيتنا، وده شيء نفتخر بيه</a:t>
            </a:r>
            <a:r>
              <a:rPr lang="en-US" b="true" sz="2223" spc="-111">
                <a:solidFill>
                  <a:srgbClr val="00004D"/>
                </a:solidFill>
                <a:latin typeface="Cairo Bold"/>
                <a:ea typeface="Cairo Bold"/>
                <a:cs typeface="Cairo Bold"/>
                <a:sym typeface="Cairo Bold"/>
              </a:rPr>
              <a:t>.</a:t>
            </a:r>
          </a:p>
          <a:p>
            <a:pPr algn="ctr">
              <a:lnSpc>
                <a:spcPts val="3112"/>
              </a:lnSpc>
              <a:spcBef>
                <a:spcPct val="0"/>
              </a:spcBef>
            </a:pPr>
          </a:p>
          <a:p>
            <a:pPr algn="ctr">
              <a:lnSpc>
                <a:spcPts val="3112"/>
              </a:lnSpc>
              <a:spcBef>
                <a:spcPct val="0"/>
              </a:spcBef>
            </a:pPr>
            <a:r>
              <a:rPr lang="ar-EG" b="true" sz="2223" spc="-111">
                <a:solidFill>
                  <a:srgbClr val="00004D"/>
                </a:solidFill>
                <a:latin typeface="Cairo Bold"/>
                <a:ea typeface="Cairo Bold"/>
                <a:cs typeface="Cairo Bold"/>
                <a:sym typeface="Cairo Bold"/>
                <a:rtl val="true"/>
              </a:rPr>
              <a:t>بنتمنى لكم كل التوفيق في خطواتكم الجاية، وإن شاء الله تكون دي مجرد بداية لمسيرة مليانة نجاح. وإحنا في شركة الوكيل بنتطلع إن يكون لينا فرصة نشتغل معاكم مرة تانية في الفترة الجاية ان شاء الله، لأنكم أثبتوا إن عندكم إمكانيات كبيرة وقدرة حقيقية على إضافة قيمة</a:t>
            </a:r>
          </a:p>
          <a:p>
            <a:pPr algn="ctr">
              <a:lnSpc>
                <a:spcPts val="3112"/>
              </a:lnSpc>
              <a:spcBef>
                <a:spcPct val="0"/>
              </a:spcBef>
            </a:pPr>
          </a:p>
          <a:p>
            <a:pPr algn="ctr">
              <a:lnSpc>
                <a:spcPts val="3112"/>
              </a:lnSpc>
              <a:spcBef>
                <a:spcPct val="0"/>
              </a:spcBef>
            </a:pPr>
            <a:r>
              <a:rPr lang="ar-EG" b="true" sz="2223" spc="-111">
                <a:solidFill>
                  <a:srgbClr val="00004D"/>
                </a:solidFill>
                <a:latin typeface="Cairo Bold"/>
                <a:ea typeface="Cairo Bold"/>
                <a:cs typeface="Cairo Bold"/>
                <a:sym typeface="Cairo Bold"/>
                <a:rtl val="true"/>
              </a:rPr>
              <a:t>شكرا ليكم جميعا على تعبكم، واحترافيتكم، ونتمنى نشوفكم قريب في نجاحات أكبر، سواء معانا أو في أي مكان تكونوا فيه</a:t>
            </a:r>
            <a:r>
              <a:rPr lang="en-US" b="true" sz="2223" spc="-111">
                <a:solidFill>
                  <a:srgbClr val="00004D"/>
                </a:solidFill>
                <a:latin typeface="Cairo Bold"/>
                <a:ea typeface="Cairo Bold"/>
                <a:cs typeface="Cairo Bold"/>
                <a:sym typeface="Cairo Bold"/>
              </a:rPr>
              <a:t>.</a:t>
            </a:r>
          </a:p>
          <a:p>
            <a:pPr algn="ctr">
              <a:lnSpc>
                <a:spcPts val="3112"/>
              </a:lnSpc>
              <a:spcBef>
                <a:spcPct val="0"/>
              </a:spcBef>
            </a:pPr>
          </a:p>
          <a:p>
            <a:pPr algn="ctr">
              <a:lnSpc>
                <a:spcPts val="3112"/>
              </a:lnSpc>
              <a:spcBef>
                <a:spcPct val="0"/>
              </a:spcBef>
            </a:pPr>
            <a:r>
              <a:rPr lang="ar-EG" b="true" sz="2223" spc="-111">
                <a:solidFill>
                  <a:srgbClr val="00004D"/>
                </a:solidFill>
                <a:latin typeface="Cairo Bold"/>
                <a:ea typeface="Cairo Bold"/>
                <a:cs typeface="Cairo Bold"/>
                <a:sym typeface="Cairo Bold"/>
                <a:rtl val="true"/>
              </a:rPr>
              <a:t>كل التوفيق ليكم دايما</a:t>
            </a:r>
            <a:r>
              <a:rPr lang="en-US" b="true" sz="2223" spc="-111">
                <a:solidFill>
                  <a:srgbClr val="00004D"/>
                </a:solidFill>
                <a:latin typeface="Cairo Bold"/>
                <a:ea typeface="Cairo Bold"/>
                <a:cs typeface="Cairo Bold"/>
                <a:sym typeface="Cairo Bold"/>
              </a:rPr>
              <a:t>. </a:t>
            </a:r>
          </a:p>
        </p:txBody>
      </p:sp>
      <p:sp>
        <p:nvSpPr>
          <p:cNvPr name="Freeform 8" id="8"/>
          <p:cNvSpPr/>
          <p:nvPr/>
        </p:nvSpPr>
        <p:spPr>
          <a:xfrm flipH="false" flipV="false" rot="0">
            <a:off x="13709580" y="-102092"/>
            <a:ext cx="4578420" cy="5077749"/>
          </a:xfrm>
          <a:custGeom>
            <a:avLst/>
            <a:gdLst/>
            <a:ahLst/>
            <a:cxnLst/>
            <a:rect r="r" b="b" t="t" l="l"/>
            <a:pathLst>
              <a:path h="5077749" w="4578420">
                <a:moveTo>
                  <a:pt x="0" y="0"/>
                </a:moveTo>
                <a:lnTo>
                  <a:pt x="4578420" y="0"/>
                </a:lnTo>
                <a:lnTo>
                  <a:pt x="4578420" y="5077748"/>
                </a:lnTo>
                <a:lnTo>
                  <a:pt x="0" y="5077748"/>
                </a:lnTo>
                <a:lnTo>
                  <a:pt x="0" y="0"/>
                </a:lnTo>
                <a:close/>
              </a:path>
            </a:pathLst>
          </a:custGeom>
          <a:blipFill>
            <a:blip r:embed="rId8"/>
            <a:stretch>
              <a:fillRect l="0" t="0" r="0" b="-33142"/>
            </a:stretch>
          </a:blipFill>
        </p:spPr>
      </p:sp>
      <p:sp>
        <p:nvSpPr>
          <p:cNvPr name="TextBox 9" id="9"/>
          <p:cNvSpPr txBox="true"/>
          <p:nvPr/>
        </p:nvSpPr>
        <p:spPr>
          <a:xfrm rot="0">
            <a:off x="6220452" y="162588"/>
            <a:ext cx="5499430" cy="1055736"/>
          </a:xfrm>
          <a:prstGeom prst="rect">
            <a:avLst/>
          </a:prstGeom>
        </p:spPr>
        <p:txBody>
          <a:bodyPr anchor="t" rtlCol="false" tIns="0" lIns="0" bIns="0" rIns="0">
            <a:spAutoFit/>
          </a:bodyPr>
          <a:lstStyle/>
          <a:p>
            <a:pPr algn="l">
              <a:lnSpc>
                <a:spcPts val="8604"/>
              </a:lnSpc>
            </a:pPr>
            <a:r>
              <a:rPr lang="en-US" sz="6146" b="true">
                <a:solidFill>
                  <a:srgbClr val="00004D"/>
                </a:solidFill>
                <a:latin typeface="Montserrat Bold"/>
                <a:ea typeface="Montserrat Bold"/>
                <a:cs typeface="Montserrat Bold"/>
                <a:sym typeface="Montserrat Bold"/>
              </a:rPr>
              <a:t>Testimonials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789381"/>
            <a:ext cx="8580502" cy="5523698"/>
          </a:xfrm>
          <a:custGeom>
            <a:avLst/>
            <a:gdLst/>
            <a:ahLst/>
            <a:cxnLst/>
            <a:rect r="r" b="b" t="t" l="l"/>
            <a:pathLst>
              <a:path h="5523698" w="8580502">
                <a:moveTo>
                  <a:pt x="0" y="0"/>
                </a:moveTo>
                <a:lnTo>
                  <a:pt x="8580502" y="0"/>
                </a:lnTo>
                <a:lnTo>
                  <a:pt x="8580502" y="5523698"/>
                </a:lnTo>
                <a:lnTo>
                  <a:pt x="0" y="5523698"/>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20504" y="400050"/>
            <a:ext cx="3048000" cy="1257300"/>
          </a:xfrm>
          <a:custGeom>
            <a:avLst/>
            <a:gdLst/>
            <a:ahLst/>
            <a:cxnLst/>
            <a:rect r="r" b="b" t="t" l="l"/>
            <a:pathLst>
              <a:path h="1257300" w="3048000">
                <a:moveTo>
                  <a:pt x="0" y="0"/>
                </a:moveTo>
                <a:lnTo>
                  <a:pt x="3048000" y="0"/>
                </a:lnTo>
                <a:lnTo>
                  <a:pt x="3048000" y="1257300"/>
                </a:lnTo>
                <a:lnTo>
                  <a:pt x="0" y="1257300"/>
                </a:lnTo>
                <a:lnTo>
                  <a:pt x="0" y="0"/>
                </a:lnTo>
                <a:close/>
              </a:path>
            </a:pathLst>
          </a:custGeom>
          <a:blipFill>
            <a:blip r:embed="rId4"/>
            <a:stretch>
              <a:fillRect l="0" t="0" r="0" b="0"/>
            </a:stretch>
          </a:blipFill>
        </p:spPr>
      </p:sp>
      <p:sp>
        <p:nvSpPr>
          <p:cNvPr name="Freeform 4" id="4"/>
          <p:cNvSpPr/>
          <p:nvPr/>
        </p:nvSpPr>
        <p:spPr>
          <a:xfrm flipH="false" flipV="false" rot="0">
            <a:off x="9350379" y="9182100"/>
            <a:ext cx="2590800" cy="1104900"/>
          </a:xfrm>
          <a:custGeom>
            <a:avLst/>
            <a:gdLst/>
            <a:ahLst/>
            <a:cxnLst/>
            <a:rect r="r" b="b" t="t" l="l"/>
            <a:pathLst>
              <a:path h="1104900" w="2590800">
                <a:moveTo>
                  <a:pt x="0" y="0"/>
                </a:moveTo>
                <a:lnTo>
                  <a:pt x="2590800" y="0"/>
                </a:lnTo>
                <a:lnTo>
                  <a:pt x="2590800" y="1104900"/>
                </a:lnTo>
                <a:lnTo>
                  <a:pt x="0" y="1104900"/>
                </a:lnTo>
                <a:lnTo>
                  <a:pt x="0" y="0"/>
                </a:lnTo>
                <a:close/>
              </a:path>
            </a:pathLst>
          </a:custGeom>
          <a:blipFill>
            <a:blip r:embed="rId5"/>
            <a:stretch>
              <a:fillRect l="0" t="0" r="0" b="0"/>
            </a:stretch>
          </a:blipFill>
        </p:spPr>
      </p:sp>
      <p:sp>
        <p:nvSpPr>
          <p:cNvPr name="Freeform 5" id="5"/>
          <p:cNvSpPr/>
          <p:nvPr/>
        </p:nvSpPr>
        <p:spPr>
          <a:xfrm flipH="false" flipV="false" rot="0">
            <a:off x="16554100" y="3278236"/>
            <a:ext cx="1895475" cy="4000500"/>
          </a:xfrm>
          <a:custGeom>
            <a:avLst/>
            <a:gdLst/>
            <a:ahLst/>
            <a:cxnLst/>
            <a:rect r="r" b="b" t="t" l="l"/>
            <a:pathLst>
              <a:path h="4000500" w="1895475">
                <a:moveTo>
                  <a:pt x="0" y="0"/>
                </a:moveTo>
                <a:lnTo>
                  <a:pt x="1895475" y="0"/>
                </a:lnTo>
                <a:lnTo>
                  <a:pt x="1895475" y="4000500"/>
                </a:lnTo>
                <a:lnTo>
                  <a:pt x="0" y="4000500"/>
                </a:lnTo>
                <a:lnTo>
                  <a:pt x="0" y="0"/>
                </a:lnTo>
                <a:close/>
              </a:path>
            </a:pathLst>
          </a:custGeom>
          <a:blipFill>
            <a:blip r:embed="rId6"/>
            <a:stretch>
              <a:fillRect l="0" t="0" r="0" b="0"/>
            </a:stretch>
          </a:blipFill>
        </p:spPr>
      </p:sp>
      <p:sp>
        <p:nvSpPr>
          <p:cNvPr name="Freeform 6" id="6"/>
          <p:cNvSpPr/>
          <p:nvPr/>
        </p:nvSpPr>
        <p:spPr>
          <a:xfrm flipH="false" flipV="false" rot="0">
            <a:off x="0" y="0"/>
            <a:ext cx="1152939" cy="1657350"/>
          </a:xfrm>
          <a:custGeom>
            <a:avLst/>
            <a:gdLst/>
            <a:ahLst/>
            <a:cxnLst/>
            <a:rect r="r" b="b" t="t" l="l"/>
            <a:pathLst>
              <a:path h="1657350" w="1152939">
                <a:moveTo>
                  <a:pt x="0" y="0"/>
                </a:moveTo>
                <a:lnTo>
                  <a:pt x="1152939" y="0"/>
                </a:lnTo>
                <a:lnTo>
                  <a:pt x="1152939" y="1657350"/>
                </a:lnTo>
                <a:lnTo>
                  <a:pt x="0" y="1657350"/>
                </a:lnTo>
                <a:lnTo>
                  <a:pt x="0" y="0"/>
                </a:lnTo>
                <a:close/>
              </a:path>
            </a:pathLst>
          </a:custGeom>
          <a:blipFill>
            <a:blip r:embed="rId7"/>
            <a:stretch>
              <a:fillRect l="0" t="0" r="0" b="0"/>
            </a:stretch>
          </a:blipFill>
        </p:spPr>
      </p:sp>
      <p:sp>
        <p:nvSpPr>
          <p:cNvPr name="Freeform 7" id="7"/>
          <p:cNvSpPr/>
          <p:nvPr/>
        </p:nvSpPr>
        <p:spPr>
          <a:xfrm flipH="false" flipV="false" rot="0">
            <a:off x="13458638" y="0"/>
            <a:ext cx="4829362" cy="4808162"/>
          </a:xfrm>
          <a:custGeom>
            <a:avLst/>
            <a:gdLst/>
            <a:ahLst/>
            <a:cxnLst/>
            <a:rect r="r" b="b" t="t" l="l"/>
            <a:pathLst>
              <a:path h="4808162" w="4829362">
                <a:moveTo>
                  <a:pt x="0" y="0"/>
                </a:moveTo>
                <a:lnTo>
                  <a:pt x="4829362" y="0"/>
                </a:lnTo>
                <a:lnTo>
                  <a:pt x="4829362" y="4808162"/>
                </a:lnTo>
                <a:lnTo>
                  <a:pt x="0" y="4808162"/>
                </a:lnTo>
                <a:lnTo>
                  <a:pt x="0" y="0"/>
                </a:lnTo>
                <a:close/>
              </a:path>
            </a:pathLst>
          </a:custGeom>
          <a:blipFill>
            <a:blip r:embed="rId8"/>
            <a:stretch>
              <a:fillRect l="0" t="0" r="0" b="0"/>
            </a:stretch>
          </a:blipFill>
        </p:spPr>
      </p:sp>
      <p:sp>
        <p:nvSpPr>
          <p:cNvPr name="TextBox 8" id="8"/>
          <p:cNvSpPr txBox="true"/>
          <p:nvPr/>
        </p:nvSpPr>
        <p:spPr>
          <a:xfrm rot="0">
            <a:off x="597935" y="3652772"/>
            <a:ext cx="7925416" cy="3331083"/>
          </a:xfrm>
          <a:prstGeom prst="rect">
            <a:avLst/>
          </a:prstGeom>
        </p:spPr>
        <p:txBody>
          <a:bodyPr anchor="t" rtlCol="false" tIns="0" lIns="0" bIns="0" rIns="0">
            <a:spAutoFit/>
          </a:bodyPr>
          <a:lstStyle/>
          <a:p>
            <a:pPr algn="ctr" rtl="true">
              <a:lnSpc>
                <a:spcPts val="4390"/>
              </a:lnSpc>
              <a:spcBef>
                <a:spcPct val="0"/>
              </a:spcBef>
            </a:pPr>
            <a:r>
              <a:rPr lang="ar-EG" b="true" sz="3136" spc="-156">
                <a:solidFill>
                  <a:srgbClr val="000000"/>
                </a:solidFill>
                <a:latin typeface="Cairo Bold"/>
                <a:ea typeface="Cairo Bold"/>
                <a:cs typeface="Cairo Bold"/>
                <a:sym typeface="Cairo Bold"/>
                <a:rtl val="true"/>
              </a:rPr>
              <a:t>شكرا يا شباب بجد بجد انتوا كنتوا اضافة كبيرة لينا وساعدتونا جدا وعاملتونا بما يرضي الله وكنتوا جزء مهم من التيم بتاعنا ومحستش ولا مرة اننا بنكلم حد بيعمل مشروع او حد جونيور  انتوا كنتوا اضافة قوية بحضور وافكار ومتابعة ساعدتنا كتير وربنا يوفقكوا جدا </a:t>
            </a:r>
          </a:p>
        </p:txBody>
      </p:sp>
      <p:sp>
        <p:nvSpPr>
          <p:cNvPr name="TextBox 9" id="9"/>
          <p:cNvSpPr txBox="true"/>
          <p:nvPr/>
        </p:nvSpPr>
        <p:spPr>
          <a:xfrm rot="0">
            <a:off x="6220452" y="162588"/>
            <a:ext cx="5499430" cy="1055736"/>
          </a:xfrm>
          <a:prstGeom prst="rect">
            <a:avLst/>
          </a:prstGeom>
        </p:spPr>
        <p:txBody>
          <a:bodyPr anchor="t" rtlCol="false" tIns="0" lIns="0" bIns="0" rIns="0">
            <a:spAutoFit/>
          </a:bodyPr>
          <a:lstStyle/>
          <a:p>
            <a:pPr algn="l">
              <a:lnSpc>
                <a:spcPts val="8604"/>
              </a:lnSpc>
            </a:pPr>
            <a:r>
              <a:rPr lang="en-US" sz="6146" b="true">
                <a:solidFill>
                  <a:srgbClr val="00004D"/>
                </a:solidFill>
                <a:latin typeface="Montserrat Bold"/>
                <a:ea typeface="Montserrat Bold"/>
                <a:cs typeface="Montserrat Bold"/>
                <a:sym typeface="Montserrat Bold"/>
              </a:rPr>
              <a:t>Testimonials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971675" cy="2143125"/>
          </a:xfrm>
          <a:custGeom>
            <a:avLst/>
            <a:gdLst/>
            <a:ahLst/>
            <a:cxnLst/>
            <a:rect r="r" b="b" t="t" l="l"/>
            <a:pathLst>
              <a:path h="2143125" w="1971675">
                <a:moveTo>
                  <a:pt x="0" y="0"/>
                </a:moveTo>
                <a:lnTo>
                  <a:pt x="1971675" y="0"/>
                </a:lnTo>
                <a:lnTo>
                  <a:pt x="1971675" y="2143125"/>
                </a:lnTo>
                <a:lnTo>
                  <a:pt x="0" y="2143125"/>
                </a:lnTo>
                <a:lnTo>
                  <a:pt x="0" y="0"/>
                </a:lnTo>
                <a:close/>
              </a:path>
            </a:pathLst>
          </a:custGeom>
          <a:blipFill>
            <a:blip r:embed="rId2"/>
            <a:stretch>
              <a:fillRect l="0" t="0" r="0" b="0"/>
            </a:stretch>
          </a:blipFill>
        </p:spPr>
      </p:sp>
      <p:sp>
        <p:nvSpPr>
          <p:cNvPr name="Freeform 3" id="3"/>
          <p:cNvSpPr/>
          <p:nvPr/>
        </p:nvSpPr>
        <p:spPr>
          <a:xfrm flipH="false" flipV="false" rot="0">
            <a:off x="15887700" y="8786812"/>
            <a:ext cx="2400300" cy="1500188"/>
          </a:xfrm>
          <a:custGeom>
            <a:avLst/>
            <a:gdLst/>
            <a:ahLst/>
            <a:cxnLst/>
            <a:rect r="r" b="b" t="t" l="l"/>
            <a:pathLst>
              <a:path h="1500188" w="2400300">
                <a:moveTo>
                  <a:pt x="0" y="0"/>
                </a:moveTo>
                <a:lnTo>
                  <a:pt x="2400300" y="0"/>
                </a:lnTo>
                <a:lnTo>
                  <a:pt x="2400300" y="1500188"/>
                </a:lnTo>
                <a:lnTo>
                  <a:pt x="0" y="1500188"/>
                </a:lnTo>
                <a:lnTo>
                  <a:pt x="0" y="0"/>
                </a:lnTo>
                <a:close/>
              </a:path>
            </a:pathLst>
          </a:custGeom>
          <a:blipFill>
            <a:blip r:embed="rId3"/>
            <a:stretch>
              <a:fillRect l="0" t="0" r="0" b="0"/>
            </a:stretch>
          </a:blipFill>
        </p:spPr>
      </p:sp>
      <p:sp>
        <p:nvSpPr>
          <p:cNvPr name="Freeform 4" id="4"/>
          <p:cNvSpPr/>
          <p:nvPr/>
        </p:nvSpPr>
        <p:spPr>
          <a:xfrm flipH="false" flipV="false" rot="0">
            <a:off x="15444788" y="2357438"/>
            <a:ext cx="2843212" cy="6000750"/>
          </a:xfrm>
          <a:custGeom>
            <a:avLst/>
            <a:gdLst/>
            <a:ahLst/>
            <a:cxnLst/>
            <a:rect r="r" b="b" t="t" l="l"/>
            <a:pathLst>
              <a:path h="6000750" w="2843212">
                <a:moveTo>
                  <a:pt x="0" y="0"/>
                </a:moveTo>
                <a:lnTo>
                  <a:pt x="2843212" y="0"/>
                </a:lnTo>
                <a:lnTo>
                  <a:pt x="2843212" y="6000750"/>
                </a:lnTo>
                <a:lnTo>
                  <a:pt x="0" y="6000750"/>
                </a:lnTo>
                <a:lnTo>
                  <a:pt x="0" y="0"/>
                </a:lnTo>
                <a:close/>
              </a:path>
            </a:pathLst>
          </a:custGeom>
          <a:blipFill>
            <a:blip r:embed="rId4"/>
            <a:stretch>
              <a:fillRect l="0" t="0" r="0" b="0"/>
            </a:stretch>
          </a:blipFill>
        </p:spPr>
      </p:sp>
      <p:sp>
        <p:nvSpPr>
          <p:cNvPr name="Freeform 5" id="5"/>
          <p:cNvSpPr/>
          <p:nvPr/>
        </p:nvSpPr>
        <p:spPr>
          <a:xfrm flipH="false" flipV="false" rot="0">
            <a:off x="0" y="2357438"/>
            <a:ext cx="1971675" cy="5786438"/>
          </a:xfrm>
          <a:custGeom>
            <a:avLst/>
            <a:gdLst/>
            <a:ahLst/>
            <a:cxnLst/>
            <a:rect r="r" b="b" t="t" l="l"/>
            <a:pathLst>
              <a:path h="5786438" w="1971675">
                <a:moveTo>
                  <a:pt x="0" y="0"/>
                </a:moveTo>
                <a:lnTo>
                  <a:pt x="1971675" y="0"/>
                </a:lnTo>
                <a:lnTo>
                  <a:pt x="1971675" y="5786437"/>
                </a:lnTo>
                <a:lnTo>
                  <a:pt x="0" y="5786437"/>
                </a:lnTo>
                <a:lnTo>
                  <a:pt x="0" y="0"/>
                </a:lnTo>
                <a:close/>
              </a:path>
            </a:pathLst>
          </a:custGeom>
          <a:blipFill>
            <a:blip r:embed="rId5"/>
            <a:stretch>
              <a:fillRect l="0" t="0" r="0" b="0"/>
            </a:stretch>
          </a:blipFill>
        </p:spPr>
      </p:sp>
      <p:grpSp>
        <p:nvGrpSpPr>
          <p:cNvPr name="Group 6" id="6"/>
          <p:cNvGrpSpPr/>
          <p:nvPr/>
        </p:nvGrpSpPr>
        <p:grpSpPr>
          <a:xfrm rot="0">
            <a:off x="619125" y="3040758"/>
            <a:ext cx="4002989" cy="5144014"/>
            <a:chOff x="0" y="0"/>
            <a:chExt cx="5337319" cy="6858685"/>
          </a:xfrm>
        </p:grpSpPr>
        <p:pic>
          <p:nvPicPr>
            <p:cNvPr name="Picture 7" id="7"/>
            <p:cNvPicPr>
              <a:picLocks noChangeAspect="true"/>
            </p:cNvPicPr>
            <p:nvPr/>
          </p:nvPicPr>
          <p:blipFill>
            <a:blip r:embed="rId6"/>
            <a:srcRect l="0" t="7165" r="0" b="7165"/>
            <a:stretch>
              <a:fillRect/>
            </a:stretch>
          </p:blipFill>
          <p:spPr>
            <a:xfrm flipH="false" flipV="false">
              <a:off x="0" y="0"/>
              <a:ext cx="5337319" cy="6858685"/>
            </a:xfrm>
            <a:prstGeom prst="rect">
              <a:avLst/>
            </a:prstGeom>
          </p:spPr>
        </p:pic>
      </p:grpSp>
      <p:sp>
        <p:nvSpPr>
          <p:cNvPr name="TextBox 8" id="8"/>
          <p:cNvSpPr txBox="true"/>
          <p:nvPr/>
        </p:nvSpPr>
        <p:spPr>
          <a:xfrm rot="0">
            <a:off x="3772704" y="726183"/>
            <a:ext cx="11082460" cy="1724025"/>
          </a:xfrm>
          <a:prstGeom prst="rect">
            <a:avLst/>
          </a:prstGeom>
        </p:spPr>
        <p:txBody>
          <a:bodyPr anchor="t" rtlCol="false" tIns="0" lIns="0" bIns="0" rIns="0">
            <a:spAutoFit/>
          </a:bodyPr>
          <a:lstStyle/>
          <a:p>
            <a:pPr algn="l">
              <a:lnSpc>
                <a:spcPts val="13200"/>
              </a:lnSpc>
            </a:pPr>
            <a:r>
              <a:rPr lang="en-US" sz="12000" spc="-600">
                <a:solidFill>
                  <a:srgbClr val="2E2F6F"/>
                </a:solidFill>
                <a:latin typeface="Anton"/>
                <a:ea typeface="Anton"/>
                <a:cs typeface="Anton"/>
                <a:sym typeface="Anton"/>
              </a:rPr>
              <a:t>Our Team Members</a:t>
            </a:r>
          </a:p>
        </p:txBody>
      </p:sp>
      <p:sp>
        <p:nvSpPr>
          <p:cNvPr name="TextBox 9" id="9"/>
          <p:cNvSpPr txBox="true"/>
          <p:nvPr/>
        </p:nvSpPr>
        <p:spPr>
          <a:xfrm rot="0">
            <a:off x="619125" y="8718172"/>
            <a:ext cx="4002989" cy="481330"/>
          </a:xfrm>
          <a:prstGeom prst="rect">
            <a:avLst/>
          </a:prstGeom>
        </p:spPr>
        <p:txBody>
          <a:bodyPr anchor="t" rtlCol="false" tIns="0" lIns="0" bIns="0" rIns="0">
            <a:spAutoFit/>
          </a:bodyPr>
          <a:lstStyle/>
          <a:p>
            <a:pPr algn="l" marL="0" indent="0" lvl="0">
              <a:lnSpc>
                <a:spcPts val="3920"/>
              </a:lnSpc>
              <a:spcBef>
                <a:spcPct val="0"/>
              </a:spcBef>
            </a:pPr>
            <a:r>
              <a:rPr lang="en-US" b="true" sz="2800" spc="-140">
                <a:solidFill>
                  <a:srgbClr val="2E2F6F"/>
                </a:solidFill>
                <a:latin typeface="Cairo Bold"/>
                <a:ea typeface="Cairo Bold"/>
                <a:cs typeface="Cairo Bold"/>
                <a:sym typeface="Cairo Bold"/>
              </a:rPr>
              <a:t>AHMED NABIL</a:t>
            </a:r>
          </a:p>
        </p:txBody>
      </p:sp>
      <p:sp>
        <p:nvSpPr>
          <p:cNvPr name="TextBox 10" id="10"/>
          <p:cNvSpPr txBox="true"/>
          <p:nvPr/>
        </p:nvSpPr>
        <p:spPr>
          <a:xfrm rot="0">
            <a:off x="4968045" y="8718172"/>
            <a:ext cx="4002989" cy="481330"/>
          </a:xfrm>
          <a:prstGeom prst="rect">
            <a:avLst/>
          </a:prstGeom>
        </p:spPr>
        <p:txBody>
          <a:bodyPr anchor="t" rtlCol="false" tIns="0" lIns="0" bIns="0" rIns="0">
            <a:spAutoFit/>
          </a:bodyPr>
          <a:lstStyle/>
          <a:p>
            <a:pPr algn="l" marL="0" indent="0" lvl="0">
              <a:lnSpc>
                <a:spcPts val="3920"/>
              </a:lnSpc>
              <a:spcBef>
                <a:spcPct val="0"/>
              </a:spcBef>
            </a:pPr>
            <a:r>
              <a:rPr lang="en-US" b="true" sz="2800" spc="-140">
                <a:solidFill>
                  <a:srgbClr val="2E2F6F"/>
                </a:solidFill>
                <a:latin typeface="Cairo Bold"/>
                <a:ea typeface="Cairo Bold"/>
                <a:cs typeface="Cairo Bold"/>
                <a:sym typeface="Cairo Bold"/>
              </a:rPr>
              <a:t>SALMA AHMED</a:t>
            </a:r>
          </a:p>
        </p:txBody>
      </p:sp>
      <p:sp>
        <p:nvSpPr>
          <p:cNvPr name="TextBox 11" id="11"/>
          <p:cNvSpPr txBox="true"/>
          <p:nvPr/>
        </p:nvSpPr>
        <p:spPr>
          <a:xfrm rot="0">
            <a:off x="9313934" y="8718172"/>
            <a:ext cx="4002989" cy="481330"/>
          </a:xfrm>
          <a:prstGeom prst="rect">
            <a:avLst/>
          </a:prstGeom>
        </p:spPr>
        <p:txBody>
          <a:bodyPr anchor="t" rtlCol="false" tIns="0" lIns="0" bIns="0" rIns="0">
            <a:spAutoFit/>
          </a:bodyPr>
          <a:lstStyle/>
          <a:p>
            <a:pPr algn="l" marL="0" indent="0" lvl="0">
              <a:lnSpc>
                <a:spcPts val="3920"/>
              </a:lnSpc>
              <a:spcBef>
                <a:spcPct val="0"/>
              </a:spcBef>
            </a:pPr>
            <a:r>
              <a:rPr lang="en-US" b="true" sz="2800" spc="-140">
                <a:solidFill>
                  <a:srgbClr val="2E2F6F"/>
                </a:solidFill>
                <a:latin typeface="Cairo Bold"/>
                <a:ea typeface="Cairo Bold"/>
                <a:cs typeface="Cairo Bold"/>
                <a:sym typeface="Cairo Bold"/>
              </a:rPr>
              <a:t>RAWAN ANAS</a:t>
            </a:r>
          </a:p>
        </p:txBody>
      </p:sp>
      <p:sp>
        <p:nvSpPr>
          <p:cNvPr name="TextBox 12" id="12"/>
          <p:cNvSpPr txBox="true"/>
          <p:nvPr/>
        </p:nvSpPr>
        <p:spPr>
          <a:xfrm rot="0">
            <a:off x="13665886" y="8718172"/>
            <a:ext cx="4002989" cy="481330"/>
          </a:xfrm>
          <a:prstGeom prst="rect">
            <a:avLst/>
          </a:prstGeom>
        </p:spPr>
        <p:txBody>
          <a:bodyPr anchor="t" rtlCol="false" tIns="0" lIns="0" bIns="0" rIns="0">
            <a:spAutoFit/>
          </a:bodyPr>
          <a:lstStyle/>
          <a:p>
            <a:pPr algn="l" marL="0" indent="0" lvl="0">
              <a:lnSpc>
                <a:spcPts val="3920"/>
              </a:lnSpc>
              <a:spcBef>
                <a:spcPct val="0"/>
              </a:spcBef>
            </a:pPr>
            <a:r>
              <a:rPr lang="en-US" b="true" sz="2800" spc="-140">
                <a:solidFill>
                  <a:srgbClr val="2E2F6F"/>
                </a:solidFill>
                <a:latin typeface="Cairo Bold"/>
                <a:ea typeface="Cairo Bold"/>
                <a:cs typeface="Cairo Bold"/>
                <a:sym typeface="Cairo Bold"/>
              </a:rPr>
              <a:t>AHMED MOHAMED</a:t>
            </a:r>
          </a:p>
        </p:txBody>
      </p:sp>
      <p:grpSp>
        <p:nvGrpSpPr>
          <p:cNvPr name="Group 13" id="13"/>
          <p:cNvGrpSpPr/>
          <p:nvPr/>
        </p:nvGrpSpPr>
        <p:grpSpPr>
          <a:xfrm rot="0">
            <a:off x="4968045" y="3040758"/>
            <a:ext cx="4002989" cy="5144014"/>
            <a:chOff x="0" y="0"/>
            <a:chExt cx="5337319" cy="6858685"/>
          </a:xfrm>
        </p:grpSpPr>
        <p:pic>
          <p:nvPicPr>
            <p:cNvPr name="Picture 14" id="14"/>
            <p:cNvPicPr>
              <a:picLocks noChangeAspect="true"/>
            </p:cNvPicPr>
            <p:nvPr/>
          </p:nvPicPr>
          <p:blipFill>
            <a:blip r:embed="rId7"/>
            <a:srcRect l="11090" t="0" r="11090" b="0"/>
            <a:stretch>
              <a:fillRect/>
            </a:stretch>
          </p:blipFill>
          <p:spPr>
            <a:xfrm flipH="false" flipV="false">
              <a:off x="0" y="0"/>
              <a:ext cx="5337319" cy="6858685"/>
            </a:xfrm>
            <a:prstGeom prst="rect">
              <a:avLst/>
            </a:prstGeom>
          </p:spPr>
        </p:pic>
      </p:grpSp>
      <p:grpSp>
        <p:nvGrpSpPr>
          <p:cNvPr name="Group 15" id="15"/>
          <p:cNvGrpSpPr/>
          <p:nvPr/>
        </p:nvGrpSpPr>
        <p:grpSpPr>
          <a:xfrm rot="0">
            <a:off x="9316966" y="3040758"/>
            <a:ext cx="4002989" cy="5144014"/>
            <a:chOff x="0" y="0"/>
            <a:chExt cx="5337319" cy="6858685"/>
          </a:xfrm>
        </p:grpSpPr>
        <p:pic>
          <p:nvPicPr>
            <p:cNvPr name="Picture 16" id="16"/>
            <p:cNvPicPr>
              <a:picLocks noChangeAspect="true"/>
            </p:cNvPicPr>
            <p:nvPr/>
          </p:nvPicPr>
          <p:blipFill>
            <a:blip r:embed="rId8"/>
            <a:srcRect l="0" t="1810" r="0" b="1810"/>
            <a:stretch>
              <a:fillRect/>
            </a:stretch>
          </p:blipFill>
          <p:spPr>
            <a:xfrm flipH="false" flipV="false">
              <a:off x="0" y="0"/>
              <a:ext cx="5337319" cy="6858685"/>
            </a:xfrm>
            <a:prstGeom prst="rect">
              <a:avLst/>
            </a:prstGeom>
          </p:spPr>
        </p:pic>
      </p:grpSp>
      <p:grpSp>
        <p:nvGrpSpPr>
          <p:cNvPr name="Group 17" id="17"/>
          <p:cNvGrpSpPr/>
          <p:nvPr/>
        </p:nvGrpSpPr>
        <p:grpSpPr>
          <a:xfrm rot="0">
            <a:off x="13665886" y="3040758"/>
            <a:ext cx="4002989" cy="5144014"/>
            <a:chOff x="0" y="0"/>
            <a:chExt cx="5337319" cy="6858685"/>
          </a:xfrm>
        </p:grpSpPr>
        <p:pic>
          <p:nvPicPr>
            <p:cNvPr name="Picture 18" id="18"/>
            <p:cNvPicPr>
              <a:picLocks noChangeAspect="true"/>
            </p:cNvPicPr>
            <p:nvPr/>
          </p:nvPicPr>
          <p:blipFill>
            <a:blip r:embed="rId9"/>
            <a:srcRect l="1363" t="0" r="1363" b="0"/>
            <a:stretch>
              <a:fillRect/>
            </a:stretch>
          </p:blipFill>
          <p:spPr>
            <a:xfrm flipH="false" flipV="false">
              <a:off x="0" y="0"/>
              <a:ext cx="5337319" cy="6858685"/>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DAHNoKvLGD8</dc:identifier>
  <dcterms:modified xsi:type="dcterms:W3CDTF">2011-08-01T06:04:30Z</dcterms:modified>
  <cp:revision>1</cp:revision>
  <dc:title>Products</dc:title>
</cp:coreProperties>
</file>